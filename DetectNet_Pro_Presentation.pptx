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0"/>
          </a:xfrm>
          <a:prstGeom prst="rect">
            <a:avLst/>
          </a:prstGeom>
          <a:solidFill>
            <a:srgbClr val="004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97280"/>
            <a:ext cx="1280160" cy="1280160"/>
          </a:xfrm>
          <a:prstGeom prst="rect">
            <a:avLst/>
          </a:prstGeom>
          <a:solidFill>
            <a:srgbClr val="003318"/>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1280160" cy="1005840"/>
          </a:xfrm>
          <a:prstGeom prst="rect">
            <a:avLst/>
          </a:prstGeom>
          <a:noFill/>
        </p:spPr>
        <p:txBody>
          <a:bodyPr wrap="square">
            <a:spAutoFit/>
          </a:bodyPr>
          <a:lstStyle/>
          <a:p>
            <a:pPr algn="ctr"/>
            <a:r>
              <a:rPr sz="3600" b="1" i="0">
                <a:solidFill>
                  <a:srgbClr val="00FF88"/>
                </a:solidFill>
              </a:rPr>
              <a:t>DN</a:t>
            </a:r>
          </a:p>
        </p:txBody>
      </p:sp>
      <p:sp>
        <p:nvSpPr>
          <p:cNvPr id="6" name="TextBox 5"/>
          <p:cNvSpPr txBox="1"/>
          <p:nvPr/>
        </p:nvSpPr>
        <p:spPr>
          <a:xfrm>
            <a:off x="2103120" y="1005840"/>
            <a:ext cx="9144000" cy="1097280"/>
          </a:xfrm>
          <a:prstGeom prst="rect">
            <a:avLst/>
          </a:prstGeom>
          <a:noFill/>
        </p:spPr>
        <p:txBody>
          <a:bodyPr wrap="square">
            <a:spAutoFit/>
          </a:bodyPr>
          <a:lstStyle/>
          <a:p>
            <a:pPr algn="l"/>
            <a:r>
              <a:rPr sz="6000" b="1" i="0">
                <a:solidFill>
                  <a:srgbClr val="E8E8F4"/>
                </a:solidFill>
              </a:rPr>
              <a:t>DetectNet Pro</a:t>
            </a:r>
          </a:p>
        </p:txBody>
      </p:sp>
      <p:sp>
        <p:nvSpPr>
          <p:cNvPr id="7" name="TextBox 6"/>
          <p:cNvSpPr txBox="1"/>
          <p:nvPr/>
        </p:nvSpPr>
        <p:spPr>
          <a:xfrm>
            <a:off x="5806440" y="1005840"/>
            <a:ext cx="3657600" cy="1097280"/>
          </a:xfrm>
          <a:prstGeom prst="rect">
            <a:avLst/>
          </a:prstGeom>
          <a:noFill/>
        </p:spPr>
        <p:txBody>
          <a:bodyPr wrap="square">
            <a:spAutoFit/>
          </a:bodyPr>
          <a:lstStyle/>
          <a:p>
            <a:pPr algn="l"/>
            <a:r>
              <a:rPr sz="6000" b="1" i="0">
                <a:solidFill>
                  <a:srgbClr val="00FF88"/>
                </a:solidFill>
              </a:rPr>
              <a:t>Pro</a:t>
            </a:r>
          </a:p>
        </p:txBody>
      </p:sp>
      <p:sp>
        <p:nvSpPr>
          <p:cNvPr id="8" name="TextBox 7"/>
          <p:cNvSpPr txBox="1"/>
          <p:nvPr/>
        </p:nvSpPr>
        <p:spPr>
          <a:xfrm>
            <a:off x="2103120" y="2148840"/>
            <a:ext cx="9144000" cy="548640"/>
          </a:xfrm>
          <a:prstGeom prst="rect">
            <a:avLst/>
          </a:prstGeom>
          <a:noFill/>
        </p:spPr>
        <p:txBody>
          <a:bodyPr wrap="square">
            <a:spAutoFit/>
          </a:bodyPr>
          <a:lstStyle/>
          <a:p>
            <a:pPr algn="l"/>
            <a:r>
              <a:rPr sz="1800" b="0" i="0">
                <a:solidFill>
                  <a:srgbClr val="7878A0"/>
                </a:solidFill>
              </a:rPr>
              <a:t>Distributed Real-Time Object Detection with Intelligent Task Scheduling</a:t>
            </a:r>
          </a:p>
        </p:txBody>
      </p:sp>
      <p:sp>
        <p:nvSpPr>
          <p:cNvPr id="9" name="Rectangle 8"/>
          <p:cNvSpPr/>
          <p:nvPr/>
        </p:nvSpPr>
        <p:spPr>
          <a:xfrm>
            <a:off x="2103120" y="2788920"/>
            <a:ext cx="3657600" cy="36576"/>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2926080"/>
            <a:ext cx="9144000" cy="365760"/>
          </a:xfrm>
          <a:prstGeom prst="rect">
            <a:avLst/>
          </a:prstGeom>
          <a:noFill/>
        </p:spPr>
        <p:txBody>
          <a:bodyPr wrap="square">
            <a:spAutoFit/>
          </a:bodyPr>
          <a:lstStyle/>
          <a:p>
            <a:pPr algn="l"/>
            <a:r>
              <a:rPr sz="1300" b="0" i="0">
                <a:solidFill>
                  <a:srgbClr val="3E3E58"/>
                </a:solidFill>
              </a:rPr>
              <a:t>TensorFlow.js  |  COCO-SSD  |  WebSocket  |  4 Schedulers</a:t>
            </a:r>
          </a:p>
        </p:txBody>
      </p:sp>
      <p:sp>
        <p:nvSpPr>
          <p:cNvPr id="11" name="Rectangle 10"/>
          <p:cNvSpPr/>
          <p:nvPr/>
        </p:nvSpPr>
        <p:spPr>
          <a:xfrm>
            <a:off x="2103120" y="3474720"/>
            <a:ext cx="1920240" cy="347472"/>
          </a:xfrm>
          <a:prstGeom prst="rect">
            <a:avLst/>
          </a:prstGeom>
          <a:solidFill>
            <a:srgbClr val="101020"/>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20" y="3474720"/>
            <a:ext cx="1920240" cy="347472"/>
          </a:xfrm>
          <a:prstGeom prst="rect">
            <a:avLst/>
          </a:prstGeom>
          <a:noFill/>
        </p:spPr>
        <p:txBody>
          <a:bodyPr wrap="square">
            <a:spAutoFit/>
          </a:bodyPr>
          <a:lstStyle/>
          <a:p>
            <a:pPr algn="ctr"/>
            <a:r>
              <a:rPr sz="1100" b="1" i="0">
                <a:solidFill>
                  <a:srgbClr val="00FF88"/>
                </a:solidFill>
              </a:rPr>
              <a:t>AI Inference</a:t>
            </a:r>
          </a:p>
        </p:txBody>
      </p:sp>
      <p:sp>
        <p:nvSpPr>
          <p:cNvPr id="13" name="Rectangle 12"/>
          <p:cNvSpPr/>
          <p:nvPr/>
        </p:nvSpPr>
        <p:spPr>
          <a:xfrm>
            <a:off x="4297680" y="3474720"/>
            <a:ext cx="1920240" cy="347472"/>
          </a:xfrm>
          <a:prstGeom prst="rect">
            <a:avLst/>
          </a:prstGeom>
          <a:solidFill>
            <a:srgbClr val="101020"/>
          </a:solidFill>
          <a:ln w="1270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3474720"/>
            <a:ext cx="1920240" cy="347472"/>
          </a:xfrm>
          <a:prstGeom prst="rect">
            <a:avLst/>
          </a:prstGeom>
          <a:noFill/>
        </p:spPr>
        <p:txBody>
          <a:bodyPr wrap="square">
            <a:spAutoFit/>
          </a:bodyPr>
          <a:lstStyle/>
          <a:p>
            <a:pPr algn="ctr"/>
            <a:r>
              <a:rPr sz="1100" b="1" i="0">
                <a:solidFill>
                  <a:srgbClr val="4D8FFF"/>
                </a:solidFill>
              </a:rPr>
              <a:t>Distributed</a:t>
            </a:r>
          </a:p>
        </p:txBody>
      </p:sp>
      <p:sp>
        <p:nvSpPr>
          <p:cNvPr id="15" name="Rectangle 14"/>
          <p:cNvSpPr/>
          <p:nvPr/>
        </p:nvSpPr>
        <p:spPr>
          <a:xfrm>
            <a:off x="6492240" y="3474720"/>
            <a:ext cx="1920240" cy="347472"/>
          </a:xfrm>
          <a:prstGeom prst="rect">
            <a:avLst/>
          </a:prstGeom>
          <a:solidFill>
            <a:srgbClr val="101020"/>
          </a:solidFill>
          <a:ln w="1270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474720"/>
            <a:ext cx="1920240" cy="347472"/>
          </a:xfrm>
          <a:prstGeom prst="rect">
            <a:avLst/>
          </a:prstGeom>
          <a:noFill/>
        </p:spPr>
        <p:txBody>
          <a:bodyPr wrap="square">
            <a:spAutoFit/>
          </a:bodyPr>
          <a:lstStyle/>
          <a:p>
            <a:pPr algn="ctr"/>
            <a:r>
              <a:rPr sz="1100" b="1" i="0">
                <a:solidFill>
                  <a:srgbClr val="FFAA00"/>
                </a:solidFill>
              </a:rPr>
              <a:t>Real-Time</a:t>
            </a:r>
          </a:p>
        </p:txBody>
      </p:sp>
      <p:sp>
        <p:nvSpPr>
          <p:cNvPr id="17" name="Rectangle 16"/>
          <p:cNvSpPr/>
          <p:nvPr/>
        </p:nvSpPr>
        <p:spPr>
          <a:xfrm>
            <a:off x="8686799" y="3474720"/>
            <a:ext cx="1920240" cy="347472"/>
          </a:xfrm>
          <a:prstGeom prst="rect">
            <a:avLst/>
          </a:prstGeom>
          <a:solidFill>
            <a:srgbClr val="101020"/>
          </a:solidFill>
          <a:ln w="1270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799" y="3474720"/>
            <a:ext cx="1920240" cy="347472"/>
          </a:xfrm>
          <a:prstGeom prst="rect">
            <a:avLst/>
          </a:prstGeom>
          <a:noFill/>
        </p:spPr>
        <p:txBody>
          <a:bodyPr wrap="square">
            <a:spAutoFit/>
          </a:bodyPr>
          <a:lstStyle/>
          <a:p>
            <a:pPr algn="ctr"/>
            <a:r>
              <a:rPr sz="1100" b="1" i="0">
                <a:solidFill>
                  <a:srgbClr val="AA66FF"/>
                </a:solidFill>
              </a:rPr>
              <a:t>Multi-Device</a:t>
            </a:r>
          </a:p>
        </p:txBody>
      </p:sp>
      <p:sp>
        <p:nvSpPr>
          <p:cNvPr id="19" name="Rectangle 18"/>
          <p:cNvSpPr/>
          <p:nvPr/>
        </p:nvSpPr>
        <p:spPr>
          <a:xfrm>
            <a:off x="0" y="6400800"/>
            <a:ext cx="12188952" cy="457200"/>
          </a:xfrm>
          <a:prstGeom prst="rect">
            <a:avLst/>
          </a:prstGeom>
          <a:solidFill>
            <a:srgbClr val="18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73952"/>
            <a:ext cx="7315200" cy="320040"/>
          </a:xfrm>
          <a:prstGeom prst="rect">
            <a:avLst/>
          </a:prstGeom>
          <a:noFill/>
        </p:spPr>
        <p:txBody>
          <a:bodyPr wrap="square">
            <a:spAutoFit/>
          </a:bodyPr>
          <a:lstStyle/>
          <a:p>
            <a:pPr algn="l"/>
            <a:r>
              <a:rPr sz="1000" b="0" i="0">
                <a:solidFill>
                  <a:srgbClr val="3E3E58"/>
                </a:solidFill>
              </a:rPr>
              <a:t>Distributed Intelligence | Browser-Native | Zero Installation</a:t>
            </a:r>
          </a:p>
        </p:txBody>
      </p:sp>
      <p:sp>
        <p:nvSpPr>
          <p:cNvPr id="21" name="TextBox 20"/>
          <p:cNvSpPr txBox="1"/>
          <p:nvPr/>
        </p:nvSpPr>
        <p:spPr>
          <a:xfrm>
            <a:off x="10972800" y="6473952"/>
            <a:ext cx="914400" cy="320040"/>
          </a:xfrm>
          <a:prstGeom prst="rect">
            <a:avLst/>
          </a:prstGeom>
          <a:noFill/>
        </p:spPr>
        <p:txBody>
          <a:bodyPr wrap="square">
            <a:spAutoFit/>
          </a:bodyPr>
          <a:lstStyle/>
          <a:p>
            <a:pPr algn="r"/>
            <a:r>
              <a:rPr sz="1000" b="0" i="0">
                <a:solidFill>
                  <a:srgbClr val="3E3E58"/>
                </a:solidFill>
              </a:rPr>
              <a:t>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Introduction</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What is DetectNet Pro?</a:t>
            </a:r>
          </a:p>
        </p:txBody>
      </p:sp>
      <p:sp>
        <p:nvSpPr>
          <p:cNvPr id="6" name="Rectangle 5"/>
          <p:cNvSpPr/>
          <p:nvPr/>
        </p:nvSpPr>
        <p:spPr>
          <a:xfrm>
            <a:off x="365760" y="1234440"/>
            <a:ext cx="530352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4937760" cy="411480"/>
          </a:xfrm>
          <a:prstGeom prst="rect">
            <a:avLst/>
          </a:prstGeom>
          <a:noFill/>
        </p:spPr>
        <p:txBody>
          <a:bodyPr wrap="square">
            <a:spAutoFit/>
          </a:bodyPr>
          <a:lstStyle/>
          <a:p>
            <a:pPr algn="l"/>
            <a:r>
              <a:rPr sz="1600" b="1" i="0">
                <a:solidFill>
                  <a:srgbClr val="00FF88"/>
                </a:solidFill>
              </a:rPr>
              <a:t>What is DetectNet Pro?</a:t>
            </a:r>
          </a:p>
        </p:txBody>
      </p:sp>
      <p:sp>
        <p:nvSpPr>
          <p:cNvPr id="8" name="TextBox 7"/>
          <p:cNvSpPr txBox="1"/>
          <p:nvPr/>
        </p:nvSpPr>
        <p:spPr>
          <a:xfrm>
            <a:off x="548640" y="1828800"/>
            <a:ext cx="4937760" cy="4389120"/>
          </a:xfrm>
          <a:prstGeom prst="rect">
            <a:avLst/>
          </a:prstGeom>
          <a:noFill/>
        </p:spPr>
        <p:txBody>
          <a:bodyPr wrap="square">
            <a:spAutoFit/>
          </a:bodyPr>
          <a:lstStyle/>
          <a:p>
            <a:pPr algn="l"/>
            <a:r>
              <a:rPr sz="1300" b="0" i="0">
                <a:solidFill>
                  <a:srgbClr val="E8E8F4"/>
                </a:solidFill>
              </a:rPr>
              <a:t>DetectNet Pro is a distributed real-time object detection system that runs entirely in the browser.
One device (the Host) streams or uploads video and distributes frames to connected Client devices over WebSocket.
Each client runs on-device AI inference using TensorFlow.js + COCO-SSD and reports results back to the host.
The host aggregates detections and benchmarks four task-scheduling algorithms side by side in real time.</a:t>
            </a:r>
          </a:p>
        </p:txBody>
      </p:sp>
      <p:sp>
        <p:nvSpPr>
          <p:cNvPr id="9" name="Rectangle 8"/>
          <p:cNvSpPr/>
          <p:nvPr/>
        </p:nvSpPr>
        <p:spPr>
          <a:xfrm>
            <a:off x="5943600" y="1234440"/>
            <a:ext cx="5852160" cy="118872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371600"/>
            <a:ext cx="109728" cy="10972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325880"/>
            <a:ext cx="5212080" cy="347472"/>
          </a:xfrm>
          <a:prstGeom prst="rect">
            <a:avLst/>
          </a:prstGeom>
          <a:noFill/>
        </p:spPr>
        <p:txBody>
          <a:bodyPr wrap="square">
            <a:spAutoFit/>
          </a:bodyPr>
          <a:lstStyle/>
          <a:p>
            <a:pPr algn="l"/>
            <a:r>
              <a:rPr sz="1500" b="1" i="0">
                <a:solidFill>
                  <a:srgbClr val="00FF88"/>
                </a:solidFill>
              </a:rPr>
              <a:t>No Installation</a:t>
            </a:r>
          </a:p>
        </p:txBody>
      </p:sp>
      <p:sp>
        <p:nvSpPr>
          <p:cNvPr id="12" name="TextBox 11"/>
          <p:cNvSpPr txBox="1"/>
          <p:nvPr/>
        </p:nvSpPr>
        <p:spPr>
          <a:xfrm>
            <a:off x="6400800" y="1691640"/>
            <a:ext cx="5212080" cy="640080"/>
          </a:xfrm>
          <a:prstGeom prst="rect">
            <a:avLst/>
          </a:prstGeom>
          <a:noFill/>
        </p:spPr>
        <p:txBody>
          <a:bodyPr wrap="square">
            <a:spAutoFit/>
          </a:bodyPr>
          <a:lstStyle/>
          <a:p>
            <a:pPr algn="l"/>
            <a:r>
              <a:rPr sz="1200" b="0" i="0">
                <a:solidFill>
                  <a:srgbClr val="7878A0"/>
                </a:solidFill>
              </a:rPr>
              <a:t>Runs entirely in any modern browser. No app, no plugin, no WebRTC needed.</a:t>
            </a:r>
          </a:p>
        </p:txBody>
      </p:sp>
      <p:sp>
        <p:nvSpPr>
          <p:cNvPr id="13" name="Rectangle 12"/>
          <p:cNvSpPr/>
          <p:nvPr/>
        </p:nvSpPr>
        <p:spPr>
          <a:xfrm>
            <a:off x="5943600" y="2532888"/>
            <a:ext cx="5852160" cy="118872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2670048"/>
            <a:ext cx="109728" cy="109728"/>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624328"/>
            <a:ext cx="5212080" cy="347472"/>
          </a:xfrm>
          <a:prstGeom prst="rect">
            <a:avLst/>
          </a:prstGeom>
          <a:noFill/>
        </p:spPr>
        <p:txBody>
          <a:bodyPr wrap="square">
            <a:spAutoFit/>
          </a:bodyPr>
          <a:lstStyle/>
          <a:p>
            <a:pPr algn="l"/>
            <a:r>
              <a:rPr sz="1500" b="1" i="0">
                <a:solidFill>
                  <a:srgbClr val="4D8FFF"/>
                </a:solidFill>
              </a:rPr>
              <a:t>Cross-Network</a:t>
            </a:r>
          </a:p>
        </p:txBody>
      </p:sp>
      <p:sp>
        <p:nvSpPr>
          <p:cNvPr id="16" name="TextBox 15"/>
          <p:cNvSpPr txBox="1"/>
          <p:nvPr/>
        </p:nvSpPr>
        <p:spPr>
          <a:xfrm>
            <a:off x="6400800" y="2990088"/>
            <a:ext cx="5212080" cy="640080"/>
          </a:xfrm>
          <a:prstGeom prst="rect">
            <a:avLst/>
          </a:prstGeom>
          <a:noFill/>
        </p:spPr>
        <p:txBody>
          <a:bodyPr wrap="square">
            <a:spAutoFit/>
          </a:bodyPr>
          <a:lstStyle/>
          <a:p>
            <a:pPr algn="l"/>
            <a:r>
              <a:rPr sz="1200" b="0" i="0">
                <a:solidFill>
                  <a:srgbClr val="7878A0"/>
                </a:solidFill>
              </a:rPr>
              <a:t>Works over 4G, different WiFi, different countries via WebSocket relay.</a:t>
            </a:r>
          </a:p>
        </p:txBody>
      </p:sp>
      <p:sp>
        <p:nvSpPr>
          <p:cNvPr id="17" name="Rectangle 16"/>
          <p:cNvSpPr/>
          <p:nvPr/>
        </p:nvSpPr>
        <p:spPr>
          <a:xfrm>
            <a:off x="5943600" y="3831336"/>
            <a:ext cx="5852160" cy="118872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3968496"/>
            <a:ext cx="109728" cy="109728"/>
          </a:xfrm>
          <a:prstGeom prst="rect">
            <a:avLst/>
          </a:prstGeom>
          <a:solidFill>
            <a:srgbClr val="AA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922776"/>
            <a:ext cx="5212080" cy="347472"/>
          </a:xfrm>
          <a:prstGeom prst="rect">
            <a:avLst/>
          </a:prstGeom>
          <a:noFill/>
        </p:spPr>
        <p:txBody>
          <a:bodyPr wrap="square">
            <a:spAutoFit/>
          </a:bodyPr>
          <a:lstStyle/>
          <a:p>
            <a:pPr algn="l"/>
            <a:r>
              <a:rPr sz="1500" b="1" i="0">
                <a:solidFill>
                  <a:srgbClr val="AA66FF"/>
                </a:solidFill>
              </a:rPr>
              <a:t>On-Device AI</a:t>
            </a:r>
          </a:p>
        </p:txBody>
      </p:sp>
      <p:sp>
        <p:nvSpPr>
          <p:cNvPr id="20" name="TextBox 19"/>
          <p:cNvSpPr txBox="1"/>
          <p:nvPr/>
        </p:nvSpPr>
        <p:spPr>
          <a:xfrm>
            <a:off x="6400800" y="4288536"/>
            <a:ext cx="5212080" cy="640080"/>
          </a:xfrm>
          <a:prstGeom prst="rect">
            <a:avLst/>
          </a:prstGeom>
          <a:noFill/>
        </p:spPr>
        <p:txBody>
          <a:bodyPr wrap="square">
            <a:spAutoFit/>
          </a:bodyPr>
          <a:lstStyle/>
          <a:p>
            <a:pPr algn="l"/>
            <a:r>
              <a:rPr sz="1200" b="0" i="0">
                <a:solidFill>
                  <a:srgbClr val="7878A0"/>
                </a:solidFill>
              </a:rPr>
              <a:t>TensorFlow.js + COCO-SSD runs inference locally on each client device.</a:t>
            </a:r>
          </a:p>
        </p:txBody>
      </p:sp>
      <p:sp>
        <p:nvSpPr>
          <p:cNvPr id="21" name="Rectangle 20"/>
          <p:cNvSpPr/>
          <p:nvPr/>
        </p:nvSpPr>
        <p:spPr>
          <a:xfrm>
            <a:off x="5943600" y="5129784"/>
            <a:ext cx="5852160" cy="118872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5266944"/>
            <a:ext cx="109728" cy="10972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5221224"/>
            <a:ext cx="5212080" cy="347472"/>
          </a:xfrm>
          <a:prstGeom prst="rect">
            <a:avLst/>
          </a:prstGeom>
          <a:noFill/>
        </p:spPr>
        <p:txBody>
          <a:bodyPr wrap="square">
            <a:spAutoFit/>
          </a:bodyPr>
          <a:lstStyle/>
          <a:p>
            <a:pPr algn="l"/>
            <a:r>
              <a:rPr sz="1500" b="1" i="0">
                <a:solidFill>
                  <a:srgbClr val="FFAA00"/>
                </a:solidFill>
              </a:rPr>
              <a:t>4 Schedulers</a:t>
            </a:r>
          </a:p>
        </p:txBody>
      </p:sp>
      <p:sp>
        <p:nvSpPr>
          <p:cNvPr id="24" name="TextBox 23"/>
          <p:cNvSpPr txBox="1"/>
          <p:nvPr/>
        </p:nvSpPr>
        <p:spPr>
          <a:xfrm>
            <a:off x="6400800" y="5586984"/>
            <a:ext cx="5212080" cy="640080"/>
          </a:xfrm>
          <a:prstGeom prst="rect">
            <a:avLst/>
          </a:prstGeom>
          <a:noFill/>
        </p:spPr>
        <p:txBody>
          <a:bodyPr wrap="square">
            <a:spAutoFit/>
          </a:bodyPr>
          <a:lstStyle/>
          <a:p>
            <a:pPr algn="l"/>
            <a:r>
              <a:rPr sz="1200" b="0" i="0">
                <a:solidFill>
                  <a:srgbClr val="7878A0"/>
                </a:solidFill>
              </a:rPr>
              <a:t>Greedy, PSO, MOMPSO, MOMPSO-GA run simultaneously for comparison.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System Architecture</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How the distributed system is structured</a:t>
            </a:r>
          </a:p>
        </p:txBody>
      </p:sp>
      <p:sp>
        <p:nvSpPr>
          <p:cNvPr id="6" name="Rectangle 5"/>
          <p:cNvSpPr/>
          <p:nvPr/>
        </p:nvSpPr>
        <p:spPr>
          <a:xfrm>
            <a:off x="365760" y="1371600"/>
            <a:ext cx="2926080" cy="4114800"/>
          </a:xfrm>
          <a:prstGeom prst="rect">
            <a:avLst/>
          </a:prstGeom>
          <a:solidFill>
            <a:srgbClr val="002211"/>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17320"/>
            <a:ext cx="2926080" cy="365760"/>
          </a:xfrm>
          <a:prstGeom prst="rect">
            <a:avLst/>
          </a:prstGeom>
          <a:noFill/>
        </p:spPr>
        <p:txBody>
          <a:bodyPr wrap="square">
            <a:spAutoFit/>
          </a:bodyPr>
          <a:lstStyle/>
          <a:p>
            <a:pPr algn="ctr"/>
            <a:r>
              <a:rPr sz="1200" b="1" i="0">
                <a:solidFill>
                  <a:srgbClr val="00FF88"/>
                </a:solidFill>
              </a:rPr>
              <a:t>HOST DEVICE</a:t>
            </a:r>
          </a:p>
        </p:txBody>
      </p:sp>
      <p:sp>
        <p:nvSpPr>
          <p:cNvPr id="8" name="Rectangle 7"/>
          <p:cNvSpPr/>
          <p:nvPr/>
        </p:nvSpPr>
        <p:spPr>
          <a:xfrm>
            <a:off x="502920" y="1920240"/>
            <a:ext cx="2651760" cy="384048"/>
          </a:xfrm>
          <a:prstGeom prst="rect">
            <a:avLst/>
          </a:prstGeom>
          <a:solidFill>
            <a:srgbClr val="003318"/>
          </a:solidFill>
          <a:ln w="15240">
            <a:solidFill>
              <a:srgbClr val="008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75104"/>
            <a:ext cx="2468880" cy="292608"/>
          </a:xfrm>
          <a:prstGeom prst="rect">
            <a:avLst/>
          </a:prstGeom>
          <a:noFill/>
        </p:spPr>
        <p:txBody>
          <a:bodyPr wrap="square">
            <a:spAutoFit/>
          </a:bodyPr>
          <a:lstStyle/>
          <a:p>
            <a:pPr algn="l"/>
            <a:r>
              <a:rPr sz="1100" b="0" i="0">
                <a:solidFill>
                  <a:srgbClr val="E8E8F4"/>
                </a:solidFill>
              </a:rPr>
              <a:t>Camera / Video Upload</a:t>
            </a:r>
          </a:p>
        </p:txBody>
      </p:sp>
      <p:sp>
        <p:nvSpPr>
          <p:cNvPr id="10" name="Rectangle 9"/>
          <p:cNvSpPr/>
          <p:nvPr/>
        </p:nvSpPr>
        <p:spPr>
          <a:xfrm>
            <a:off x="502920" y="2423160"/>
            <a:ext cx="2651760" cy="384048"/>
          </a:xfrm>
          <a:prstGeom prst="rect">
            <a:avLst/>
          </a:prstGeom>
          <a:solidFill>
            <a:srgbClr val="003318"/>
          </a:solidFill>
          <a:ln w="15240">
            <a:solidFill>
              <a:srgbClr val="008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478024"/>
            <a:ext cx="2468880" cy="292608"/>
          </a:xfrm>
          <a:prstGeom prst="rect">
            <a:avLst/>
          </a:prstGeom>
          <a:noFill/>
        </p:spPr>
        <p:txBody>
          <a:bodyPr wrap="square">
            <a:spAutoFit/>
          </a:bodyPr>
          <a:lstStyle/>
          <a:p>
            <a:pPr algn="l"/>
            <a:r>
              <a:rPr sz="1100" b="0" i="0">
                <a:solidFill>
                  <a:srgbClr val="E8E8F4"/>
                </a:solidFill>
              </a:rPr>
              <a:t>Frame Capture (220ms)</a:t>
            </a:r>
          </a:p>
        </p:txBody>
      </p:sp>
      <p:sp>
        <p:nvSpPr>
          <p:cNvPr id="12" name="Rectangle 11"/>
          <p:cNvSpPr/>
          <p:nvPr/>
        </p:nvSpPr>
        <p:spPr>
          <a:xfrm>
            <a:off x="502920" y="2926080"/>
            <a:ext cx="2651760" cy="384048"/>
          </a:xfrm>
          <a:prstGeom prst="rect">
            <a:avLst/>
          </a:prstGeom>
          <a:solidFill>
            <a:srgbClr val="003318"/>
          </a:solidFill>
          <a:ln w="15240">
            <a:solidFill>
              <a:srgbClr val="008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980944"/>
            <a:ext cx="2468880" cy="292608"/>
          </a:xfrm>
          <a:prstGeom prst="rect">
            <a:avLst/>
          </a:prstGeom>
          <a:noFill/>
        </p:spPr>
        <p:txBody>
          <a:bodyPr wrap="square">
            <a:spAutoFit/>
          </a:bodyPr>
          <a:lstStyle/>
          <a:p>
            <a:pPr algn="l"/>
            <a:r>
              <a:rPr sz="1100" b="0" i="0">
                <a:solidFill>
                  <a:srgbClr val="E8E8F4"/>
                </a:solidFill>
              </a:rPr>
              <a:t>4x Scheduler Dispatch</a:t>
            </a:r>
          </a:p>
        </p:txBody>
      </p:sp>
      <p:sp>
        <p:nvSpPr>
          <p:cNvPr id="14" name="Rectangle 13"/>
          <p:cNvSpPr/>
          <p:nvPr/>
        </p:nvSpPr>
        <p:spPr>
          <a:xfrm>
            <a:off x="502920" y="3429000"/>
            <a:ext cx="2651760" cy="384048"/>
          </a:xfrm>
          <a:prstGeom prst="rect">
            <a:avLst/>
          </a:prstGeom>
          <a:solidFill>
            <a:srgbClr val="003318"/>
          </a:solidFill>
          <a:ln w="15240">
            <a:solidFill>
              <a:srgbClr val="008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483864"/>
            <a:ext cx="2468880" cy="292608"/>
          </a:xfrm>
          <a:prstGeom prst="rect">
            <a:avLst/>
          </a:prstGeom>
          <a:noFill/>
        </p:spPr>
        <p:txBody>
          <a:bodyPr wrap="square">
            <a:spAutoFit/>
          </a:bodyPr>
          <a:lstStyle/>
          <a:p>
            <a:pPr algn="l"/>
            <a:r>
              <a:rPr sz="1100" b="0" i="0">
                <a:solidFill>
                  <a:srgbClr val="E8E8F4"/>
                </a:solidFill>
              </a:rPr>
              <a:t>Results Aggregation</a:t>
            </a:r>
          </a:p>
        </p:txBody>
      </p:sp>
      <p:sp>
        <p:nvSpPr>
          <p:cNvPr id="16" name="Rectangle 15"/>
          <p:cNvSpPr/>
          <p:nvPr/>
        </p:nvSpPr>
        <p:spPr>
          <a:xfrm>
            <a:off x="502920" y="3931920"/>
            <a:ext cx="2651760" cy="384048"/>
          </a:xfrm>
          <a:prstGeom prst="rect">
            <a:avLst/>
          </a:prstGeom>
          <a:solidFill>
            <a:srgbClr val="003318"/>
          </a:solidFill>
          <a:ln w="15240">
            <a:solidFill>
              <a:srgbClr val="0088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986784"/>
            <a:ext cx="2468880" cy="292608"/>
          </a:xfrm>
          <a:prstGeom prst="rect">
            <a:avLst/>
          </a:prstGeom>
          <a:noFill/>
        </p:spPr>
        <p:txBody>
          <a:bodyPr wrap="square">
            <a:spAutoFit/>
          </a:bodyPr>
          <a:lstStyle/>
          <a:p>
            <a:pPr algn="l"/>
            <a:r>
              <a:rPr sz="1100" b="0" i="0">
                <a:solidFill>
                  <a:srgbClr val="E8E8F4"/>
                </a:solidFill>
              </a:rPr>
              <a:t>Live Detection Overlay</a:t>
            </a:r>
          </a:p>
        </p:txBody>
      </p:sp>
      <p:sp>
        <p:nvSpPr>
          <p:cNvPr id="18" name="Rectangle 17"/>
          <p:cNvSpPr/>
          <p:nvPr/>
        </p:nvSpPr>
        <p:spPr>
          <a:xfrm>
            <a:off x="4389120" y="1371600"/>
            <a:ext cx="3383280" cy="4114800"/>
          </a:xfrm>
          <a:prstGeom prst="rect">
            <a:avLst/>
          </a:prstGeom>
          <a:solidFill>
            <a:srgbClr val="080822"/>
          </a:solidFill>
          <a:ln w="2540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1417320"/>
            <a:ext cx="3383280" cy="365760"/>
          </a:xfrm>
          <a:prstGeom prst="rect">
            <a:avLst/>
          </a:prstGeom>
          <a:noFill/>
        </p:spPr>
        <p:txBody>
          <a:bodyPr wrap="square">
            <a:spAutoFit/>
          </a:bodyPr>
          <a:lstStyle/>
          <a:p>
            <a:pPr algn="ctr"/>
            <a:r>
              <a:rPr sz="1200" b="1" i="0">
                <a:solidFill>
                  <a:srgbClr val="4D8FFF"/>
                </a:solidFill>
              </a:rPr>
              <a:t>WS RELAY SERVER</a:t>
            </a:r>
          </a:p>
        </p:txBody>
      </p:sp>
      <p:sp>
        <p:nvSpPr>
          <p:cNvPr id="20" name="TextBox 19"/>
          <p:cNvSpPr txBox="1"/>
          <p:nvPr/>
        </p:nvSpPr>
        <p:spPr>
          <a:xfrm>
            <a:off x="4389120" y="1783080"/>
            <a:ext cx="3383280" cy="274320"/>
          </a:xfrm>
          <a:prstGeom prst="rect">
            <a:avLst/>
          </a:prstGeom>
          <a:noFill/>
        </p:spPr>
        <p:txBody>
          <a:bodyPr wrap="square">
            <a:spAutoFit/>
          </a:bodyPr>
          <a:lstStyle/>
          <a:p>
            <a:pPr algn="ctr"/>
            <a:r>
              <a:rPr sz="1000" b="0" i="0">
                <a:solidFill>
                  <a:srgbClr val="7878A0"/>
                </a:solidFill>
              </a:rPr>
              <a:t>Railway / Render</a:t>
            </a:r>
          </a:p>
        </p:txBody>
      </p:sp>
      <p:sp>
        <p:nvSpPr>
          <p:cNvPr id="21" name="Rectangle 20"/>
          <p:cNvSpPr/>
          <p:nvPr/>
        </p:nvSpPr>
        <p:spPr>
          <a:xfrm>
            <a:off x="4526280" y="2194560"/>
            <a:ext cx="3108960" cy="384048"/>
          </a:xfrm>
          <a:prstGeom prst="rect">
            <a:avLst/>
          </a:prstGeom>
          <a:solidFill>
            <a:srgbClr val="0A0A2A"/>
          </a:solidFill>
          <a:ln w="15240">
            <a:solidFill>
              <a:srgbClr val="22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249424"/>
            <a:ext cx="2926080" cy="292608"/>
          </a:xfrm>
          <a:prstGeom prst="rect">
            <a:avLst/>
          </a:prstGeom>
          <a:noFill/>
        </p:spPr>
        <p:txBody>
          <a:bodyPr wrap="square">
            <a:spAutoFit/>
          </a:bodyPr>
          <a:lstStyle/>
          <a:p>
            <a:pPr algn="l"/>
            <a:r>
              <a:rPr sz="1100" b="0" i="0">
                <a:solidFill>
                  <a:srgbClr val="E8E8F4"/>
                </a:solidFill>
              </a:rPr>
              <a:t>Session Store (Map)</a:t>
            </a:r>
          </a:p>
        </p:txBody>
      </p:sp>
      <p:sp>
        <p:nvSpPr>
          <p:cNvPr id="23" name="Rectangle 22"/>
          <p:cNvSpPr/>
          <p:nvPr/>
        </p:nvSpPr>
        <p:spPr>
          <a:xfrm>
            <a:off x="4526280" y="2697480"/>
            <a:ext cx="3108960" cy="384048"/>
          </a:xfrm>
          <a:prstGeom prst="rect">
            <a:avLst/>
          </a:prstGeom>
          <a:solidFill>
            <a:srgbClr val="0A0A2A"/>
          </a:solidFill>
          <a:ln w="15240">
            <a:solidFill>
              <a:srgbClr val="22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2752344"/>
            <a:ext cx="2926080" cy="292608"/>
          </a:xfrm>
          <a:prstGeom prst="rect">
            <a:avLst/>
          </a:prstGeom>
          <a:noFill/>
        </p:spPr>
        <p:txBody>
          <a:bodyPr wrap="square">
            <a:spAutoFit/>
          </a:bodyPr>
          <a:lstStyle/>
          <a:p>
            <a:pPr algn="l"/>
            <a:r>
              <a:rPr sz="1100" b="0" i="0">
                <a:solidFill>
                  <a:srgbClr val="E8E8F4"/>
                </a:solidFill>
              </a:rPr>
              <a:t>Message Broker</a:t>
            </a:r>
          </a:p>
        </p:txBody>
      </p:sp>
      <p:sp>
        <p:nvSpPr>
          <p:cNvPr id="25" name="Rectangle 24"/>
          <p:cNvSpPr/>
          <p:nvPr/>
        </p:nvSpPr>
        <p:spPr>
          <a:xfrm>
            <a:off x="4526280" y="3200400"/>
            <a:ext cx="3108960" cy="384048"/>
          </a:xfrm>
          <a:prstGeom prst="rect">
            <a:avLst/>
          </a:prstGeom>
          <a:solidFill>
            <a:srgbClr val="0A0A2A"/>
          </a:solidFill>
          <a:ln w="15240">
            <a:solidFill>
              <a:srgbClr val="22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3255264"/>
            <a:ext cx="2926080" cy="292608"/>
          </a:xfrm>
          <a:prstGeom prst="rect">
            <a:avLst/>
          </a:prstGeom>
          <a:noFill/>
        </p:spPr>
        <p:txBody>
          <a:bodyPr wrap="square">
            <a:spAutoFit/>
          </a:bodyPr>
          <a:lstStyle/>
          <a:p>
            <a:pPr algn="l"/>
            <a:r>
              <a:rPr sz="1100" b="0" i="0">
                <a:solidFill>
                  <a:srgbClr val="E8E8F4"/>
                </a:solidFill>
              </a:rPr>
              <a:t>Frame Routing (SFU)</a:t>
            </a:r>
          </a:p>
        </p:txBody>
      </p:sp>
      <p:sp>
        <p:nvSpPr>
          <p:cNvPr id="27" name="Rectangle 26"/>
          <p:cNvSpPr/>
          <p:nvPr/>
        </p:nvSpPr>
        <p:spPr>
          <a:xfrm>
            <a:off x="4526280" y="3703320"/>
            <a:ext cx="3108960" cy="384048"/>
          </a:xfrm>
          <a:prstGeom prst="rect">
            <a:avLst/>
          </a:prstGeom>
          <a:solidFill>
            <a:srgbClr val="0A0A2A"/>
          </a:solidFill>
          <a:ln w="15240">
            <a:solidFill>
              <a:srgbClr val="22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3758184"/>
            <a:ext cx="2926080" cy="292608"/>
          </a:xfrm>
          <a:prstGeom prst="rect">
            <a:avLst/>
          </a:prstGeom>
          <a:noFill/>
        </p:spPr>
        <p:txBody>
          <a:bodyPr wrap="square">
            <a:spAutoFit/>
          </a:bodyPr>
          <a:lstStyle/>
          <a:p>
            <a:pPr algn="l"/>
            <a:r>
              <a:rPr sz="1100" b="0" i="0">
                <a:solidFill>
                  <a:srgbClr val="E8E8F4"/>
                </a:solidFill>
              </a:rPr>
              <a:t>Heartbeat (25s ping)</a:t>
            </a:r>
          </a:p>
        </p:txBody>
      </p:sp>
      <p:sp>
        <p:nvSpPr>
          <p:cNvPr id="29" name="Rectangle 28"/>
          <p:cNvSpPr/>
          <p:nvPr/>
        </p:nvSpPr>
        <p:spPr>
          <a:xfrm>
            <a:off x="4526280" y="4206240"/>
            <a:ext cx="3108960" cy="384048"/>
          </a:xfrm>
          <a:prstGeom prst="rect">
            <a:avLst/>
          </a:prstGeom>
          <a:solidFill>
            <a:srgbClr val="0A0A2A"/>
          </a:solidFill>
          <a:ln w="15240">
            <a:solidFill>
              <a:srgbClr val="224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17720" y="4261104"/>
            <a:ext cx="2926080" cy="292608"/>
          </a:xfrm>
          <a:prstGeom prst="rect">
            <a:avLst/>
          </a:prstGeom>
          <a:noFill/>
        </p:spPr>
        <p:txBody>
          <a:bodyPr wrap="square">
            <a:spAutoFit/>
          </a:bodyPr>
          <a:lstStyle/>
          <a:p>
            <a:pPr algn="l"/>
            <a:r>
              <a:rPr sz="1100" b="0" i="0">
                <a:solidFill>
                  <a:srgbClr val="E8E8F4"/>
                </a:solidFill>
              </a:rPr>
              <a:t>No video processing</a:t>
            </a:r>
          </a:p>
        </p:txBody>
      </p:sp>
      <p:sp>
        <p:nvSpPr>
          <p:cNvPr id="31" name="Rectangle 30"/>
          <p:cNvSpPr/>
          <p:nvPr/>
        </p:nvSpPr>
        <p:spPr>
          <a:xfrm>
            <a:off x="8869680" y="1371600"/>
            <a:ext cx="2926080" cy="4114800"/>
          </a:xfrm>
          <a:prstGeom prst="rect">
            <a:avLst/>
          </a:prstGeom>
          <a:solidFill>
            <a:srgbClr val="150828"/>
          </a:solidFill>
          <a:ln w="2540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0" y="1417320"/>
            <a:ext cx="2926080" cy="365760"/>
          </a:xfrm>
          <a:prstGeom prst="rect">
            <a:avLst/>
          </a:prstGeom>
          <a:noFill/>
        </p:spPr>
        <p:txBody>
          <a:bodyPr wrap="square">
            <a:spAutoFit/>
          </a:bodyPr>
          <a:lstStyle/>
          <a:p>
            <a:pPr algn="ctr"/>
            <a:r>
              <a:rPr sz="1200" b="1" i="0">
                <a:solidFill>
                  <a:srgbClr val="AA66FF"/>
                </a:solidFill>
              </a:rPr>
              <a:t>CLIENT DEVICES</a:t>
            </a:r>
          </a:p>
        </p:txBody>
      </p:sp>
      <p:sp>
        <p:nvSpPr>
          <p:cNvPr id="33" name="TextBox 32"/>
          <p:cNvSpPr txBox="1"/>
          <p:nvPr/>
        </p:nvSpPr>
        <p:spPr>
          <a:xfrm>
            <a:off x="8869680" y="1783080"/>
            <a:ext cx="2926080" cy="274320"/>
          </a:xfrm>
          <a:prstGeom prst="rect">
            <a:avLst/>
          </a:prstGeom>
          <a:noFill/>
        </p:spPr>
        <p:txBody>
          <a:bodyPr wrap="square">
            <a:spAutoFit/>
          </a:bodyPr>
          <a:lstStyle/>
          <a:p>
            <a:pPr algn="ctr"/>
            <a:r>
              <a:rPr sz="1000" b="0" i="0">
                <a:solidFill>
                  <a:srgbClr val="7878A0"/>
                </a:solidFill>
              </a:rPr>
              <a:t>Any Phone / Browser</a:t>
            </a:r>
          </a:p>
        </p:txBody>
      </p:sp>
      <p:sp>
        <p:nvSpPr>
          <p:cNvPr id="34" name="Rectangle 33"/>
          <p:cNvSpPr/>
          <p:nvPr/>
        </p:nvSpPr>
        <p:spPr>
          <a:xfrm>
            <a:off x="9006840" y="2194560"/>
            <a:ext cx="2651760" cy="384048"/>
          </a:xfrm>
          <a:prstGeom prst="rect">
            <a:avLst/>
          </a:prstGeom>
          <a:solidFill>
            <a:srgbClr val="1A0A30"/>
          </a:solidFill>
          <a:ln w="15240">
            <a:solidFill>
              <a:srgbClr val="552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98280" y="2249424"/>
            <a:ext cx="2468880" cy="292608"/>
          </a:xfrm>
          <a:prstGeom prst="rect">
            <a:avLst/>
          </a:prstGeom>
          <a:noFill/>
        </p:spPr>
        <p:txBody>
          <a:bodyPr wrap="square">
            <a:spAutoFit/>
          </a:bodyPr>
          <a:lstStyle/>
          <a:p>
            <a:pPr algn="l"/>
            <a:r>
              <a:rPr sz="1100" b="0" i="0">
                <a:solidFill>
                  <a:srgbClr val="E8E8F4"/>
                </a:solidFill>
              </a:rPr>
              <a:t>TensorFlow.js 4.10</a:t>
            </a:r>
          </a:p>
        </p:txBody>
      </p:sp>
      <p:sp>
        <p:nvSpPr>
          <p:cNvPr id="36" name="Rectangle 35"/>
          <p:cNvSpPr/>
          <p:nvPr/>
        </p:nvSpPr>
        <p:spPr>
          <a:xfrm>
            <a:off x="9006840" y="2697480"/>
            <a:ext cx="2651760" cy="384048"/>
          </a:xfrm>
          <a:prstGeom prst="rect">
            <a:avLst/>
          </a:prstGeom>
          <a:solidFill>
            <a:srgbClr val="1A0A30"/>
          </a:solidFill>
          <a:ln w="15240">
            <a:solidFill>
              <a:srgbClr val="552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98280" y="2752344"/>
            <a:ext cx="2468880" cy="292608"/>
          </a:xfrm>
          <a:prstGeom prst="rect">
            <a:avLst/>
          </a:prstGeom>
          <a:noFill/>
        </p:spPr>
        <p:txBody>
          <a:bodyPr wrap="square">
            <a:spAutoFit/>
          </a:bodyPr>
          <a:lstStyle/>
          <a:p>
            <a:pPr algn="l"/>
            <a:r>
              <a:rPr sz="1100" b="0" i="0">
                <a:solidFill>
                  <a:srgbClr val="E8E8F4"/>
                </a:solidFill>
              </a:rPr>
              <a:t>COCO-SSD (80 classes)</a:t>
            </a:r>
          </a:p>
        </p:txBody>
      </p:sp>
      <p:sp>
        <p:nvSpPr>
          <p:cNvPr id="38" name="Rectangle 37"/>
          <p:cNvSpPr/>
          <p:nvPr/>
        </p:nvSpPr>
        <p:spPr>
          <a:xfrm>
            <a:off x="9006840" y="3200400"/>
            <a:ext cx="2651760" cy="384048"/>
          </a:xfrm>
          <a:prstGeom prst="rect">
            <a:avLst/>
          </a:prstGeom>
          <a:solidFill>
            <a:srgbClr val="1A0A30"/>
          </a:solidFill>
          <a:ln w="15240">
            <a:solidFill>
              <a:srgbClr val="552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98280" y="3255264"/>
            <a:ext cx="2468880" cy="292608"/>
          </a:xfrm>
          <a:prstGeom prst="rect">
            <a:avLst/>
          </a:prstGeom>
          <a:noFill/>
        </p:spPr>
        <p:txBody>
          <a:bodyPr wrap="square">
            <a:spAutoFit/>
          </a:bodyPr>
          <a:lstStyle/>
          <a:p>
            <a:pPr algn="l"/>
            <a:r>
              <a:rPr sz="1100" b="0" i="0">
                <a:solidFill>
                  <a:srgbClr val="E8E8F4"/>
                </a:solidFill>
              </a:rPr>
              <a:t>Health Metrics Report</a:t>
            </a:r>
          </a:p>
        </p:txBody>
      </p:sp>
      <p:sp>
        <p:nvSpPr>
          <p:cNvPr id="40" name="Rectangle 39"/>
          <p:cNvSpPr/>
          <p:nvPr/>
        </p:nvSpPr>
        <p:spPr>
          <a:xfrm>
            <a:off x="9006840" y="3703320"/>
            <a:ext cx="2651760" cy="384048"/>
          </a:xfrm>
          <a:prstGeom prst="rect">
            <a:avLst/>
          </a:prstGeom>
          <a:solidFill>
            <a:srgbClr val="1A0A30"/>
          </a:solidFill>
          <a:ln w="15240">
            <a:solidFill>
              <a:srgbClr val="552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98280" y="3758184"/>
            <a:ext cx="2468880" cy="292608"/>
          </a:xfrm>
          <a:prstGeom prst="rect">
            <a:avLst/>
          </a:prstGeom>
          <a:noFill/>
        </p:spPr>
        <p:txBody>
          <a:bodyPr wrap="square">
            <a:spAutoFit/>
          </a:bodyPr>
          <a:lstStyle/>
          <a:p>
            <a:pPr algn="l"/>
            <a:r>
              <a:rPr sz="1100" b="0" i="0">
                <a:solidFill>
                  <a:srgbClr val="E8E8F4"/>
                </a:solidFill>
              </a:rPr>
              <a:t>On-Device Inference</a:t>
            </a:r>
          </a:p>
        </p:txBody>
      </p:sp>
      <p:sp>
        <p:nvSpPr>
          <p:cNvPr id="42" name="Rectangle 41"/>
          <p:cNvSpPr/>
          <p:nvPr/>
        </p:nvSpPr>
        <p:spPr>
          <a:xfrm>
            <a:off x="9006840" y="4206240"/>
            <a:ext cx="2651760" cy="384048"/>
          </a:xfrm>
          <a:prstGeom prst="rect">
            <a:avLst/>
          </a:prstGeom>
          <a:solidFill>
            <a:srgbClr val="1A0A30"/>
          </a:solidFill>
          <a:ln w="15240">
            <a:solidFill>
              <a:srgbClr val="552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98280" y="4261104"/>
            <a:ext cx="2468880" cy="292608"/>
          </a:xfrm>
          <a:prstGeom prst="rect">
            <a:avLst/>
          </a:prstGeom>
          <a:noFill/>
        </p:spPr>
        <p:txBody>
          <a:bodyPr wrap="square">
            <a:spAutoFit/>
          </a:bodyPr>
          <a:lstStyle/>
          <a:p>
            <a:pPr algn="l"/>
            <a:r>
              <a:rPr sz="1100" b="0" i="0">
                <a:solidFill>
                  <a:srgbClr val="E8E8F4"/>
                </a:solidFill>
              </a:rPr>
              <a:t>Result + Latency Send</a:t>
            </a:r>
          </a:p>
        </p:txBody>
      </p:sp>
      <p:sp>
        <p:nvSpPr>
          <p:cNvPr id="44" name="Rectangle 43"/>
          <p:cNvSpPr/>
          <p:nvPr/>
        </p:nvSpPr>
        <p:spPr>
          <a:xfrm>
            <a:off x="3337560" y="2743200"/>
            <a:ext cx="1005840"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46120" y="2487168"/>
            <a:ext cx="1188720" cy="256032"/>
          </a:xfrm>
          <a:prstGeom prst="rect">
            <a:avLst/>
          </a:prstGeom>
          <a:noFill/>
        </p:spPr>
        <p:txBody>
          <a:bodyPr wrap="square">
            <a:spAutoFit/>
          </a:bodyPr>
          <a:lstStyle/>
          <a:p>
            <a:pPr algn="ctr"/>
            <a:r>
              <a:rPr sz="800" b="0" i="0">
                <a:solidFill>
                  <a:srgbClr val="00FF88"/>
                </a:solidFill>
              </a:rPr>
              <a:t>host-create / frame</a:t>
            </a:r>
          </a:p>
        </p:txBody>
      </p:sp>
      <p:sp>
        <p:nvSpPr>
          <p:cNvPr id="46" name="Rectangle 45"/>
          <p:cNvSpPr/>
          <p:nvPr/>
        </p:nvSpPr>
        <p:spPr>
          <a:xfrm>
            <a:off x="3337560" y="3200400"/>
            <a:ext cx="1005840" cy="54864"/>
          </a:xfrm>
          <a:prstGeom prst="rect">
            <a:avLst/>
          </a:prstGeom>
          <a:solidFill>
            <a:srgbClr val="3E3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6120" y="3273552"/>
            <a:ext cx="1188720" cy="256032"/>
          </a:xfrm>
          <a:prstGeom prst="rect">
            <a:avLst/>
          </a:prstGeom>
          <a:noFill/>
        </p:spPr>
        <p:txBody>
          <a:bodyPr wrap="square">
            <a:spAutoFit/>
          </a:bodyPr>
          <a:lstStyle/>
          <a:p>
            <a:pPr algn="ctr"/>
            <a:r>
              <a:rPr sz="800" b="0" i="0">
                <a:solidFill>
                  <a:srgbClr val="3E3E58"/>
                </a:solidFill>
              </a:rPr>
              <a:t>result / health</a:t>
            </a:r>
          </a:p>
        </p:txBody>
      </p:sp>
      <p:sp>
        <p:nvSpPr>
          <p:cNvPr id="48" name="Rectangle 47"/>
          <p:cNvSpPr/>
          <p:nvPr/>
        </p:nvSpPr>
        <p:spPr>
          <a:xfrm>
            <a:off x="7790688" y="2743200"/>
            <a:ext cx="1051560" cy="54864"/>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99248" y="2487168"/>
            <a:ext cx="1234440" cy="256032"/>
          </a:xfrm>
          <a:prstGeom prst="rect">
            <a:avLst/>
          </a:prstGeom>
          <a:noFill/>
        </p:spPr>
        <p:txBody>
          <a:bodyPr wrap="square">
            <a:spAutoFit/>
          </a:bodyPr>
          <a:lstStyle/>
          <a:p>
            <a:pPr algn="ctr"/>
            <a:r>
              <a:rPr sz="800" b="0" i="0">
                <a:solidFill>
                  <a:srgbClr val="4D8FFF"/>
                </a:solidFill>
              </a:rPr>
              <a:t>frame dispatch</a:t>
            </a:r>
          </a:p>
        </p:txBody>
      </p:sp>
      <p:sp>
        <p:nvSpPr>
          <p:cNvPr id="50" name="Rectangle 49"/>
          <p:cNvSpPr/>
          <p:nvPr/>
        </p:nvSpPr>
        <p:spPr>
          <a:xfrm>
            <a:off x="7790688" y="3200400"/>
            <a:ext cx="1051560" cy="54864"/>
          </a:xfrm>
          <a:prstGeom prst="rect">
            <a:avLst/>
          </a:prstGeom>
          <a:solidFill>
            <a:srgbClr val="3E3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99248" y="3273552"/>
            <a:ext cx="1234440" cy="256032"/>
          </a:xfrm>
          <a:prstGeom prst="rect">
            <a:avLst/>
          </a:prstGeom>
          <a:noFill/>
        </p:spPr>
        <p:txBody>
          <a:bodyPr wrap="square">
            <a:spAutoFit/>
          </a:bodyPr>
          <a:lstStyle/>
          <a:p>
            <a:pPr algn="ctr"/>
            <a:r>
              <a:rPr sz="800" b="0" i="0">
                <a:solidFill>
                  <a:srgbClr val="3E3E58"/>
                </a:solidFill>
              </a:rPr>
              <a:t>result + metrics</a:t>
            </a:r>
          </a:p>
        </p:txBody>
      </p:sp>
      <p:sp>
        <p:nvSpPr>
          <p:cNvPr id="52" name="Rectangle 51"/>
          <p:cNvSpPr/>
          <p:nvPr/>
        </p:nvSpPr>
        <p:spPr>
          <a:xfrm>
            <a:off x="365760" y="5669280"/>
            <a:ext cx="11430000" cy="6400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5742432"/>
            <a:ext cx="11064240" cy="502920"/>
          </a:xfrm>
          <a:prstGeom prst="rect">
            <a:avLst/>
          </a:prstGeom>
          <a:noFill/>
        </p:spPr>
        <p:txBody>
          <a:bodyPr wrap="square">
            <a:spAutoFit/>
          </a:bodyPr>
          <a:lstStyle/>
          <a:p>
            <a:pPr algn="l"/>
            <a:r>
              <a:rPr sz="1100" b="0" i="0">
                <a:solidFill>
                  <a:srgbClr val="7878A0"/>
                </a:solidFill>
              </a:rPr>
              <a:t>Pure WebSocket relay - no WebRTC, no P2P. Works across any network (4G, different WiFi, different countries). Server is a pure message broker - never processes video.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Setup &amp; Tech Stack</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Technologies, deployment, and configuration</a:t>
            </a:r>
          </a:p>
        </p:txBody>
      </p:sp>
      <p:sp>
        <p:nvSpPr>
          <p:cNvPr id="6" name="Rectangle 5"/>
          <p:cNvSpPr/>
          <p:nvPr/>
        </p:nvSpPr>
        <p:spPr>
          <a:xfrm>
            <a:off x="365760" y="1234440"/>
            <a:ext cx="548640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5120640" cy="347472"/>
          </a:xfrm>
          <a:prstGeom prst="rect">
            <a:avLst/>
          </a:prstGeom>
          <a:noFill/>
        </p:spPr>
        <p:txBody>
          <a:bodyPr wrap="square">
            <a:spAutoFit/>
          </a:bodyPr>
          <a:lstStyle/>
          <a:p>
            <a:pPr algn="l"/>
            <a:r>
              <a:rPr sz="1500" b="1" i="0">
                <a:solidFill>
                  <a:srgbClr val="00FF88"/>
                </a:solidFill>
              </a:rPr>
              <a:t>Tech Stack</a:t>
            </a:r>
          </a:p>
        </p:txBody>
      </p:sp>
      <p:sp>
        <p:nvSpPr>
          <p:cNvPr id="8" name="Rectangle 7"/>
          <p:cNvSpPr/>
          <p:nvPr/>
        </p:nvSpPr>
        <p:spPr>
          <a:xfrm>
            <a:off x="502920" y="1737360"/>
            <a:ext cx="5212080" cy="43891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37360"/>
            <a:ext cx="54864" cy="438912"/>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773936"/>
            <a:ext cx="1371600" cy="347472"/>
          </a:xfrm>
          <a:prstGeom prst="rect">
            <a:avLst/>
          </a:prstGeom>
          <a:noFill/>
        </p:spPr>
        <p:txBody>
          <a:bodyPr wrap="square">
            <a:spAutoFit/>
          </a:bodyPr>
          <a:lstStyle/>
          <a:p>
            <a:pPr algn="l"/>
            <a:r>
              <a:rPr sz="1100" b="1" i="0">
                <a:solidFill>
                  <a:srgbClr val="00FF88"/>
                </a:solidFill>
              </a:rPr>
              <a:t>Frontend</a:t>
            </a:r>
          </a:p>
        </p:txBody>
      </p:sp>
      <p:sp>
        <p:nvSpPr>
          <p:cNvPr id="11" name="TextBox 10"/>
          <p:cNvSpPr txBox="1"/>
          <p:nvPr/>
        </p:nvSpPr>
        <p:spPr>
          <a:xfrm>
            <a:off x="2103120" y="1773936"/>
            <a:ext cx="3474720" cy="347472"/>
          </a:xfrm>
          <a:prstGeom prst="rect">
            <a:avLst/>
          </a:prstGeom>
          <a:noFill/>
        </p:spPr>
        <p:txBody>
          <a:bodyPr wrap="square">
            <a:spAutoFit/>
          </a:bodyPr>
          <a:lstStyle/>
          <a:p>
            <a:pPr algn="l"/>
            <a:r>
              <a:rPr sz="1000" b="0" i="0">
                <a:solidFill>
                  <a:srgbClr val="7878A0"/>
                </a:solidFill>
              </a:rPr>
              <a:t>Vanilla JS, HTML5, CSS - no framework, no build step</a:t>
            </a:r>
          </a:p>
        </p:txBody>
      </p:sp>
      <p:sp>
        <p:nvSpPr>
          <p:cNvPr id="12" name="Rectangle 11"/>
          <p:cNvSpPr/>
          <p:nvPr/>
        </p:nvSpPr>
        <p:spPr>
          <a:xfrm>
            <a:off x="502920" y="2249424"/>
            <a:ext cx="5212080" cy="43891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249424"/>
            <a:ext cx="54864" cy="438912"/>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286000"/>
            <a:ext cx="1371600" cy="347472"/>
          </a:xfrm>
          <a:prstGeom prst="rect">
            <a:avLst/>
          </a:prstGeom>
          <a:noFill/>
        </p:spPr>
        <p:txBody>
          <a:bodyPr wrap="square">
            <a:spAutoFit/>
          </a:bodyPr>
          <a:lstStyle/>
          <a:p>
            <a:pPr algn="l"/>
            <a:r>
              <a:rPr sz="1100" b="1" i="0">
                <a:solidFill>
                  <a:srgbClr val="4D8FFF"/>
                </a:solidFill>
              </a:rPr>
              <a:t>AI Model</a:t>
            </a:r>
          </a:p>
        </p:txBody>
      </p:sp>
      <p:sp>
        <p:nvSpPr>
          <p:cNvPr id="15" name="TextBox 14"/>
          <p:cNvSpPr txBox="1"/>
          <p:nvPr/>
        </p:nvSpPr>
        <p:spPr>
          <a:xfrm>
            <a:off x="2103120" y="2286000"/>
            <a:ext cx="3474720" cy="347472"/>
          </a:xfrm>
          <a:prstGeom prst="rect">
            <a:avLst/>
          </a:prstGeom>
          <a:noFill/>
        </p:spPr>
        <p:txBody>
          <a:bodyPr wrap="square">
            <a:spAutoFit/>
          </a:bodyPr>
          <a:lstStyle/>
          <a:p>
            <a:pPr algn="l"/>
            <a:r>
              <a:rPr sz="1000" b="0" i="0">
                <a:solidFill>
                  <a:srgbClr val="7878A0"/>
                </a:solidFill>
              </a:rPr>
              <a:t>TensorFlow.js 4.10.0 + COCO-SSD 2.2.2 (80 classes)</a:t>
            </a:r>
          </a:p>
        </p:txBody>
      </p:sp>
      <p:sp>
        <p:nvSpPr>
          <p:cNvPr id="16" name="Rectangle 15"/>
          <p:cNvSpPr/>
          <p:nvPr/>
        </p:nvSpPr>
        <p:spPr>
          <a:xfrm>
            <a:off x="502920" y="2761488"/>
            <a:ext cx="5212080" cy="43891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61488"/>
            <a:ext cx="54864" cy="438912"/>
          </a:xfrm>
          <a:prstGeom prst="rect">
            <a:avLst/>
          </a:prstGeom>
          <a:solidFill>
            <a:srgbClr val="AA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798064"/>
            <a:ext cx="1371600" cy="347472"/>
          </a:xfrm>
          <a:prstGeom prst="rect">
            <a:avLst/>
          </a:prstGeom>
          <a:noFill/>
        </p:spPr>
        <p:txBody>
          <a:bodyPr wrap="square">
            <a:spAutoFit/>
          </a:bodyPr>
          <a:lstStyle/>
          <a:p>
            <a:pPr algn="l"/>
            <a:r>
              <a:rPr sz="1100" b="1" i="0">
                <a:solidFill>
                  <a:srgbClr val="AA66FF"/>
                </a:solidFill>
              </a:rPr>
              <a:t>Transport</a:t>
            </a:r>
          </a:p>
        </p:txBody>
      </p:sp>
      <p:sp>
        <p:nvSpPr>
          <p:cNvPr id="19" name="TextBox 18"/>
          <p:cNvSpPr txBox="1"/>
          <p:nvPr/>
        </p:nvSpPr>
        <p:spPr>
          <a:xfrm>
            <a:off x="2103120" y="2798064"/>
            <a:ext cx="3474720" cy="347472"/>
          </a:xfrm>
          <a:prstGeom prst="rect">
            <a:avLst/>
          </a:prstGeom>
          <a:noFill/>
        </p:spPr>
        <p:txBody>
          <a:bodyPr wrap="square">
            <a:spAutoFit/>
          </a:bodyPr>
          <a:lstStyle/>
          <a:p>
            <a:pPr algn="l"/>
            <a:r>
              <a:rPr sz="1000" b="0" i="0">
                <a:solidFill>
                  <a:srgbClr val="7878A0"/>
                </a:solidFill>
              </a:rPr>
              <a:t>WebSocket (ws v8.17.1) - pure relay, no WebRTC</a:t>
            </a:r>
          </a:p>
        </p:txBody>
      </p:sp>
      <p:sp>
        <p:nvSpPr>
          <p:cNvPr id="20" name="Rectangle 19"/>
          <p:cNvSpPr/>
          <p:nvPr/>
        </p:nvSpPr>
        <p:spPr>
          <a:xfrm>
            <a:off x="502920" y="3273552"/>
            <a:ext cx="5212080" cy="43891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273552"/>
            <a:ext cx="54864" cy="43891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310128"/>
            <a:ext cx="1371600" cy="347472"/>
          </a:xfrm>
          <a:prstGeom prst="rect">
            <a:avLst/>
          </a:prstGeom>
          <a:noFill/>
        </p:spPr>
        <p:txBody>
          <a:bodyPr wrap="square">
            <a:spAutoFit/>
          </a:bodyPr>
          <a:lstStyle/>
          <a:p>
            <a:pPr algn="l"/>
            <a:r>
              <a:rPr sz="1100" b="1" i="0">
                <a:solidFill>
                  <a:srgbClr val="FFAA00"/>
                </a:solidFill>
              </a:rPr>
              <a:t>Signaling</a:t>
            </a:r>
          </a:p>
        </p:txBody>
      </p:sp>
      <p:sp>
        <p:nvSpPr>
          <p:cNvPr id="23" name="TextBox 22"/>
          <p:cNvSpPr txBox="1"/>
          <p:nvPr/>
        </p:nvSpPr>
        <p:spPr>
          <a:xfrm>
            <a:off x="2103120" y="3310128"/>
            <a:ext cx="3474720" cy="347472"/>
          </a:xfrm>
          <a:prstGeom prst="rect">
            <a:avLst/>
          </a:prstGeom>
          <a:noFill/>
        </p:spPr>
        <p:txBody>
          <a:bodyPr wrap="square">
            <a:spAutoFit/>
          </a:bodyPr>
          <a:lstStyle/>
          <a:p>
            <a:pPr algn="l"/>
            <a:r>
              <a:rPr sz="1000" b="0" i="0">
                <a:solidFill>
                  <a:srgbClr val="7878A0"/>
                </a:solidFill>
              </a:rPr>
              <a:t>Vercel Serverless + Upstash Redis (optional fallback)</a:t>
            </a:r>
          </a:p>
        </p:txBody>
      </p:sp>
      <p:sp>
        <p:nvSpPr>
          <p:cNvPr id="24" name="Rectangle 23"/>
          <p:cNvSpPr/>
          <p:nvPr/>
        </p:nvSpPr>
        <p:spPr>
          <a:xfrm>
            <a:off x="502920" y="3785616"/>
            <a:ext cx="5212080" cy="43891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785616"/>
            <a:ext cx="54864" cy="438912"/>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822192"/>
            <a:ext cx="1371600" cy="347472"/>
          </a:xfrm>
          <a:prstGeom prst="rect">
            <a:avLst/>
          </a:prstGeom>
          <a:noFill/>
        </p:spPr>
        <p:txBody>
          <a:bodyPr wrap="square">
            <a:spAutoFit/>
          </a:bodyPr>
          <a:lstStyle/>
          <a:p>
            <a:pPr algn="l"/>
            <a:r>
              <a:rPr sz="1100" b="1" i="0">
                <a:solidFill>
                  <a:srgbClr val="00FF88"/>
                </a:solidFill>
              </a:rPr>
              <a:t>Frontend Host</a:t>
            </a:r>
          </a:p>
        </p:txBody>
      </p:sp>
      <p:sp>
        <p:nvSpPr>
          <p:cNvPr id="27" name="TextBox 26"/>
          <p:cNvSpPr txBox="1"/>
          <p:nvPr/>
        </p:nvSpPr>
        <p:spPr>
          <a:xfrm>
            <a:off x="2103120" y="3822192"/>
            <a:ext cx="3474720" cy="347472"/>
          </a:xfrm>
          <a:prstGeom prst="rect">
            <a:avLst/>
          </a:prstGeom>
          <a:noFill/>
        </p:spPr>
        <p:txBody>
          <a:bodyPr wrap="square">
            <a:spAutoFit/>
          </a:bodyPr>
          <a:lstStyle/>
          <a:p>
            <a:pPr algn="l"/>
            <a:r>
              <a:rPr sz="1000" b="0" i="0">
                <a:solidFill>
                  <a:srgbClr val="7878A0"/>
                </a:solidFill>
              </a:rPr>
              <a:t>Vercel - zero config deploy from GitHub</a:t>
            </a:r>
          </a:p>
        </p:txBody>
      </p:sp>
      <p:sp>
        <p:nvSpPr>
          <p:cNvPr id="28" name="Rectangle 27"/>
          <p:cNvSpPr/>
          <p:nvPr/>
        </p:nvSpPr>
        <p:spPr>
          <a:xfrm>
            <a:off x="502920" y="4297680"/>
            <a:ext cx="5212080" cy="43891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4297680"/>
            <a:ext cx="54864" cy="438912"/>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4334256"/>
            <a:ext cx="1371600" cy="347472"/>
          </a:xfrm>
          <a:prstGeom prst="rect">
            <a:avLst/>
          </a:prstGeom>
          <a:noFill/>
        </p:spPr>
        <p:txBody>
          <a:bodyPr wrap="square">
            <a:spAutoFit/>
          </a:bodyPr>
          <a:lstStyle/>
          <a:p>
            <a:pPr algn="l"/>
            <a:r>
              <a:rPr sz="1100" b="1" i="0">
                <a:solidFill>
                  <a:srgbClr val="4D8FFF"/>
                </a:solidFill>
              </a:rPr>
              <a:t>WS Server</a:t>
            </a:r>
          </a:p>
        </p:txBody>
      </p:sp>
      <p:sp>
        <p:nvSpPr>
          <p:cNvPr id="31" name="TextBox 30"/>
          <p:cNvSpPr txBox="1"/>
          <p:nvPr/>
        </p:nvSpPr>
        <p:spPr>
          <a:xfrm>
            <a:off x="2103120" y="4334256"/>
            <a:ext cx="3474720" cy="347472"/>
          </a:xfrm>
          <a:prstGeom prst="rect">
            <a:avLst/>
          </a:prstGeom>
          <a:noFill/>
        </p:spPr>
        <p:txBody>
          <a:bodyPr wrap="square">
            <a:spAutoFit/>
          </a:bodyPr>
          <a:lstStyle/>
          <a:p>
            <a:pPr algn="l"/>
            <a:r>
              <a:rPr sz="1000" b="0" i="0">
                <a:solidFill>
                  <a:srgbClr val="7878A0"/>
                </a:solidFill>
              </a:rPr>
              <a:t>Railway or Render - persistent Node.js host</a:t>
            </a:r>
          </a:p>
        </p:txBody>
      </p:sp>
      <p:sp>
        <p:nvSpPr>
          <p:cNvPr id="32" name="Rectangle 31"/>
          <p:cNvSpPr/>
          <p:nvPr/>
        </p:nvSpPr>
        <p:spPr>
          <a:xfrm>
            <a:off x="502920" y="4809744"/>
            <a:ext cx="5212080" cy="43891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4809744"/>
            <a:ext cx="54864" cy="438912"/>
          </a:xfrm>
          <a:prstGeom prst="rect">
            <a:avLst/>
          </a:prstGeom>
          <a:solidFill>
            <a:srgbClr val="787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846320"/>
            <a:ext cx="1371600" cy="347472"/>
          </a:xfrm>
          <a:prstGeom prst="rect">
            <a:avLst/>
          </a:prstGeom>
          <a:noFill/>
        </p:spPr>
        <p:txBody>
          <a:bodyPr wrap="square">
            <a:spAutoFit/>
          </a:bodyPr>
          <a:lstStyle/>
          <a:p>
            <a:pPr algn="l"/>
            <a:r>
              <a:rPr sz="1100" b="1" i="0">
                <a:solidFill>
                  <a:srgbClr val="7878A0"/>
                </a:solidFill>
              </a:rPr>
              <a:t>Runtime</a:t>
            </a:r>
          </a:p>
        </p:txBody>
      </p:sp>
      <p:sp>
        <p:nvSpPr>
          <p:cNvPr id="35" name="TextBox 34"/>
          <p:cNvSpPr txBox="1"/>
          <p:nvPr/>
        </p:nvSpPr>
        <p:spPr>
          <a:xfrm>
            <a:off x="2103120" y="4846320"/>
            <a:ext cx="3474720" cy="347472"/>
          </a:xfrm>
          <a:prstGeom prst="rect">
            <a:avLst/>
          </a:prstGeom>
          <a:noFill/>
        </p:spPr>
        <p:txBody>
          <a:bodyPr wrap="square">
            <a:spAutoFit/>
          </a:bodyPr>
          <a:lstStyle/>
          <a:p>
            <a:pPr algn="l"/>
            <a:r>
              <a:rPr sz="1000" b="0" i="0">
                <a:solidFill>
                  <a:srgbClr val="7878A0"/>
                </a:solidFill>
              </a:rPr>
              <a:t>Node.js 18+ (ESM modules)</a:t>
            </a:r>
          </a:p>
        </p:txBody>
      </p:sp>
      <p:sp>
        <p:nvSpPr>
          <p:cNvPr id="36" name="Rectangle 35"/>
          <p:cNvSpPr/>
          <p:nvPr/>
        </p:nvSpPr>
        <p:spPr>
          <a:xfrm>
            <a:off x="502920" y="5321808"/>
            <a:ext cx="5212080" cy="43891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5321808"/>
            <a:ext cx="54864" cy="438912"/>
          </a:xfrm>
          <a:prstGeom prst="rect">
            <a:avLst/>
          </a:prstGeom>
          <a:solidFill>
            <a:srgbClr val="787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5358384"/>
            <a:ext cx="1371600" cy="347472"/>
          </a:xfrm>
          <a:prstGeom prst="rect">
            <a:avLst/>
          </a:prstGeom>
          <a:noFill/>
        </p:spPr>
        <p:txBody>
          <a:bodyPr wrap="square">
            <a:spAutoFit/>
          </a:bodyPr>
          <a:lstStyle/>
          <a:p>
            <a:pPr algn="l"/>
            <a:r>
              <a:rPr sz="1100" b="1" i="0">
                <a:solidFill>
                  <a:srgbClr val="7878A0"/>
                </a:solidFill>
              </a:rPr>
              <a:t>Session Codes</a:t>
            </a:r>
          </a:p>
        </p:txBody>
      </p:sp>
      <p:sp>
        <p:nvSpPr>
          <p:cNvPr id="39" name="TextBox 38"/>
          <p:cNvSpPr txBox="1"/>
          <p:nvPr/>
        </p:nvSpPr>
        <p:spPr>
          <a:xfrm>
            <a:off x="2103120" y="5358384"/>
            <a:ext cx="3474720" cy="347472"/>
          </a:xfrm>
          <a:prstGeom prst="rect">
            <a:avLst/>
          </a:prstGeom>
          <a:noFill/>
        </p:spPr>
        <p:txBody>
          <a:bodyPr wrap="square">
            <a:spAutoFit/>
          </a:bodyPr>
          <a:lstStyle/>
          <a:p>
            <a:pPr algn="l"/>
            <a:r>
              <a:rPr sz="1000" b="0" i="0">
                <a:solidFill>
                  <a:srgbClr val="7878A0"/>
                </a:solidFill>
              </a:rPr>
              <a:t>6-char alphanumeric, ambiguous chars excluded</a:t>
            </a:r>
          </a:p>
        </p:txBody>
      </p:sp>
      <p:sp>
        <p:nvSpPr>
          <p:cNvPr id="40" name="Rectangle 39"/>
          <p:cNvSpPr/>
          <p:nvPr/>
        </p:nvSpPr>
        <p:spPr>
          <a:xfrm>
            <a:off x="6126480" y="1234440"/>
            <a:ext cx="5669280" cy="242316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1325880"/>
            <a:ext cx="5303520" cy="347472"/>
          </a:xfrm>
          <a:prstGeom prst="rect">
            <a:avLst/>
          </a:prstGeom>
          <a:noFill/>
        </p:spPr>
        <p:txBody>
          <a:bodyPr wrap="square">
            <a:spAutoFit/>
          </a:bodyPr>
          <a:lstStyle/>
          <a:p>
            <a:pPr algn="l"/>
            <a:r>
              <a:rPr sz="1500" b="1" i="0">
                <a:solidFill>
                  <a:srgbClr val="00FF88"/>
                </a:solidFill>
              </a:rPr>
              <a:t>Frontend Deployment (Vercel)</a:t>
            </a:r>
          </a:p>
        </p:txBody>
      </p:sp>
      <p:sp>
        <p:nvSpPr>
          <p:cNvPr id="42" name="Rectangle 41"/>
          <p:cNvSpPr/>
          <p:nvPr/>
        </p:nvSpPr>
        <p:spPr>
          <a:xfrm>
            <a:off x="6263640" y="1737360"/>
            <a:ext cx="5394960" cy="402336"/>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1792224"/>
            <a:ext cx="5120640" cy="292608"/>
          </a:xfrm>
          <a:prstGeom prst="rect">
            <a:avLst/>
          </a:prstGeom>
          <a:noFill/>
        </p:spPr>
        <p:txBody>
          <a:bodyPr wrap="square">
            <a:spAutoFit/>
          </a:bodyPr>
          <a:lstStyle/>
          <a:p>
            <a:pPr algn="l"/>
            <a:r>
              <a:rPr sz="1100" b="0" i="0">
                <a:solidFill>
                  <a:srgbClr val="E8E8F4"/>
                </a:solidFill>
              </a:rPr>
              <a:t>1. Push repo to GitHub</a:t>
            </a:r>
          </a:p>
        </p:txBody>
      </p:sp>
      <p:sp>
        <p:nvSpPr>
          <p:cNvPr id="44" name="Rectangle 43"/>
          <p:cNvSpPr/>
          <p:nvPr/>
        </p:nvSpPr>
        <p:spPr>
          <a:xfrm>
            <a:off x="6263640" y="2212848"/>
            <a:ext cx="5394960" cy="402336"/>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2267712"/>
            <a:ext cx="5120640" cy="292608"/>
          </a:xfrm>
          <a:prstGeom prst="rect">
            <a:avLst/>
          </a:prstGeom>
          <a:noFill/>
        </p:spPr>
        <p:txBody>
          <a:bodyPr wrap="square">
            <a:spAutoFit/>
          </a:bodyPr>
          <a:lstStyle/>
          <a:p>
            <a:pPr algn="l"/>
            <a:r>
              <a:rPr sz="1100" b="0" i="0">
                <a:solidFill>
                  <a:srgbClr val="E8E8F4"/>
                </a:solidFill>
              </a:rPr>
              <a:t>2. Go to vercel.com/new and import repo</a:t>
            </a:r>
          </a:p>
        </p:txBody>
      </p:sp>
      <p:sp>
        <p:nvSpPr>
          <p:cNvPr id="46" name="Rectangle 45"/>
          <p:cNvSpPr/>
          <p:nvPr/>
        </p:nvSpPr>
        <p:spPr>
          <a:xfrm>
            <a:off x="6263640" y="2688336"/>
            <a:ext cx="5394960" cy="402336"/>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2743200"/>
            <a:ext cx="5120640" cy="292608"/>
          </a:xfrm>
          <a:prstGeom prst="rect">
            <a:avLst/>
          </a:prstGeom>
          <a:noFill/>
        </p:spPr>
        <p:txBody>
          <a:bodyPr wrap="square">
            <a:spAutoFit/>
          </a:bodyPr>
          <a:lstStyle/>
          <a:p>
            <a:pPr algn="l"/>
            <a:r>
              <a:rPr sz="1100" b="0" i="0">
                <a:solidFill>
                  <a:srgbClr val="E8E8F4"/>
                </a:solidFill>
              </a:rPr>
              <a:t>3. Click Deploy - no build config needed</a:t>
            </a:r>
          </a:p>
        </p:txBody>
      </p:sp>
      <p:sp>
        <p:nvSpPr>
          <p:cNvPr id="48" name="Rectangle 47"/>
          <p:cNvSpPr/>
          <p:nvPr/>
        </p:nvSpPr>
        <p:spPr>
          <a:xfrm>
            <a:off x="6263640" y="3163824"/>
            <a:ext cx="5394960" cy="402336"/>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3218688"/>
            <a:ext cx="5120640" cy="292608"/>
          </a:xfrm>
          <a:prstGeom prst="rect">
            <a:avLst/>
          </a:prstGeom>
          <a:noFill/>
        </p:spPr>
        <p:txBody>
          <a:bodyPr wrap="square">
            <a:spAutoFit/>
          </a:bodyPr>
          <a:lstStyle/>
          <a:p>
            <a:pPr algn="l"/>
            <a:r>
              <a:rPr sz="1100" b="0" i="0">
                <a:solidFill>
                  <a:srgbClr val="E8E8F4"/>
                </a:solidFill>
              </a:rPr>
              <a:t>4. vercel.json handles routing + security headers</a:t>
            </a:r>
          </a:p>
        </p:txBody>
      </p:sp>
      <p:sp>
        <p:nvSpPr>
          <p:cNvPr id="50" name="Rectangle 49"/>
          <p:cNvSpPr/>
          <p:nvPr/>
        </p:nvSpPr>
        <p:spPr>
          <a:xfrm>
            <a:off x="6126480" y="3794760"/>
            <a:ext cx="5669280" cy="265176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3886200"/>
            <a:ext cx="5303520" cy="347472"/>
          </a:xfrm>
          <a:prstGeom prst="rect">
            <a:avLst/>
          </a:prstGeom>
          <a:noFill/>
        </p:spPr>
        <p:txBody>
          <a:bodyPr wrap="square">
            <a:spAutoFit/>
          </a:bodyPr>
          <a:lstStyle/>
          <a:p>
            <a:pPr algn="l"/>
            <a:r>
              <a:rPr sz="1500" b="1" i="0">
                <a:solidFill>
                  <a:srgbClr val="4D8FFF"/>
                </a:solidFill>
              </a:rPr>
              <a:t>WS Server Deployment (Railway)</a:t>
            </a:r>
          </a:p>
        </p:txBody>
      </p:sp>
      <p:sp>
        <p:nvSpPr>
          <p:cNvPr id="52" name="Rectangle 51"/>
          <p:cNvSpPr/>
          <p:nvPr/>
        </p:nvSpPr>
        <p:spPr>
          <a:xfrm>
            <a:off x="6263640" y="4297680"/>
            <a:ext cx="5394960" cy="34747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0" y="4334256"/>
            <a:ext cx="5120640" cy="274320"/>
          </a:xfrm>
          <a:prstGeom prst="rect">
            <a:avLst/>
          </a:prstGeom>
          <a:noFill/>
        </p:spPr>
        <p:txBody>
          <a:bodyPr wrap="square">
            <a:spAutoFit/>
          </a:bodyPr>
          <a:lstStyle/>
          <a:p>
            <a:pPr algn="l"/>
            <a:r>
              <a:rPr sz="1000" b="0" i="0">
                <a:solidFill>
                  <a:srgbClr val="E8E8F4"/>
                </a:solidFill>
              </a:rPr>
              <a:t>1. railway.app -&gt; New Project -&gt; Deploy from GitHub</a:t>
            </a:r>
          </a:p>
        </p:txBody>
      </p:sp>
      <p:sp>
        <p:nvSpPr>
          <p:cNvPr id="54" name="Rectangle 53"/>
          <p:cNvSpPr/>
          <p:nvPr/>
        </p:nvSpPr>
        <p:spPr>
          <a:xfrm>
            <a:off x="6263640" y="4718304"/>
            <a:ext cx="5394960" cy="34747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0" y="4754880"/>
            <a:ext cx="5120640" cy="274320"/>
          </a:xfrm>
          <a:prstGeom prst="rect">
            <a:avLst/>
          </a:prstGeom>
          <a:noFill/>
        </p:spPr>
        <p:txBody>
          <a:bodyPr wrap="square">
            <a:spAutoFit/>
          </a:bodyPr>
          <a:lstStyle/>
          <a:p>
            <a:pPr algn="l"/>
            <a:r>
              <a:rPr sz="1000" b="0" i="0">
                <a:solidFill>
                  <a:srgbClr val="E8E8F4"/>
                </a:solidFill>
              </a:rPr>
              <a:t>2. Railway detects Procfile, runs: node server.js</a:t>
            </a:r>
          </a:p>
        </p:txBody>
      </p:sp>
      <p:sp>
        <p:nvSpPr>
          <p:cNvPr id="56" name="Rectangle 55"/>
          <p:cNvSpPr/>
          <p:nvPr/>
        </p:nvSpPr>
        <p:spPr>
          <a:xfrm>
            <a:off x="6263640" y="5138928"/>
            <a:ext cx="5394960" cy="34747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0800" y="5175504"/>
            <a:ext cx="5120640" cy="274320"/>
          </a:xfrm>
          <a:prstGeom prst="rect">
            <a:avLst/>
          </a:prstGeom>
          <a:noFill/>
        </p:spPr>
        <p:txBody>
          <a:bodyPr wrap="square">
            <a:spAutoFit/>
          </a:bodyPr>
          <a:lstStyle/>
          <a:p>
            <a:pPr algn="l"/>
            <a:r>
              <a:rPr sz="1000" b="0" i="0">
                <a:solidFill>
                  <a:srgbClr val="E8E8F4"/>
                </a:solidFill>
              </a:rPr>
              <a:t>3. Copy Railway public URL (wss://...)</a:t>
            </a:r>
          </a:p>
        </p:txBody>
      </p:sp>
      <p:sp>
        <p:nvSpPr>
          <p:cNvPr id="58" name="Rectangle 57"/>
          <p:cNvSpPr/>
          <p:nvPr/>
        </p:nvSpPr>
        <p:spPr>
          <a:xfrm>
            <a:off x="6263640" y="5559552"/>
            <a:ext cx="5394960" cy="34747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0" y="5596128"/>
            <a:ext cx="5120640" cy="274320"/>
          </a:xfrm>
          <a:prstGeom prst="rect">
            <a:avLst/>
          </a:prstGeom>
          <a:noFill/>
        </p:spPr>
        <p:txBody>
          <a:bodyPr wrap="square">
            <a:spAutoFit/>
          </a:bodyPr>
          <a:lstStyle/>
          <a:p>
            <a:pPr algn="l"/>
            <a:r>
              <a:rPr sz="1000" b="0" i="0">
                <a:solidFill>
                  <a:srgbClr val="E8E8F4"/>
                </a:solidFill>
              </a:rPr>
              <a:t>4. Update WS_URL in public/index.html</a:t>
            </a:r>
          </a:p>
        </p:txBody>
      </p:sp>
      <p:sp>
        <p:nvSpPr>
          <p:cNvPr id="60" name="Rectangle 59"/>
          <p:cNvSpPr/>
          <p:nvPr/>
        </p:nvSpPr>
        <p:spPr>
          <a:xfrm>
            <a:off x="6263640" y="5980176"/>
            <a:ext cx="5394960" cy="347472"/>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00800" y="6016752"/>
            <a:ext cx="5120640" cy="274320"/>
          </a:xfrm>
          <a:prstGeom prst="rect">
            <a:avLst/>
          </a:prstGeom>
          <a:noFill/>
        </p:spPr>
        <p:txBody>
          <a:bodyPr wrap="square">
            <a:spAutoFit/>
          </a:bodyPr>
          <a:lstStyle/>
          <a:p>
            <a:pPr algn="l"/>
            <a:r>
              <a:rPr sz="1000" b="0" i="0">
                <a:solidFill>
                  <a:srgbClr val="E8E8F4"/>
                </a:solidFill>
              </a:rPr>
              <a:t>5. Optional: Add Upstash Redis env vars for signaling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Data Flow</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End-to-end frame processing pipeline</a:t>
            </a:r>
          </a:p>
        </p:txBody>
      </p:sp>
      <p:sp>
        <p:nvSpPr>
          <p:cNvPr id="6" name="Rectangle 5"/>
          <p:cNvSpPr/>
          <p:nvPr/>
        </p:nvSpPr>
        <p:spPr>
          <a:xfrm>
            <a:off x="457200" y="1371600"/>
            <a:ext cx="3840480" cy="749808"/>
          </a:xfrm>
          <a:prstGeom prst="rect">
            <a:avLst/>
          </a:prstGeom>
          <a:solidFill>
            <a:srgbClr val="20202E"/>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64008" cy="7498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426464"/>
            <a:ext cx="3566160" cy="347472"/>
          </a:xfrm>
          <a:prstGeom prst="rect">
            <a:avLst/>
          </a:prstGeom>
          <a:noFill/>
        </p:spPr>
        <p:txBody>
          <a:bodyPr wrap="square">
            <a:spAutoFit/>
          </a:bodyPr>
          <a:lstStyle/>
          <a:p>
            <a:pPr algn="l"/>
            <a:r>
              <a:rPr sz="1300" b="1" i="0">
                <a:solidFill>
                  <a:srgbClr val="00FF88"/>
                </a:solidFill>
              </a:rPr>
              <a:t>Host Creates Session</a:t>
            </a:r>
          </a:p>
        </p:txBody>
      </p:sp>
      <p:sp>
        <p:nvSpPr>
          <p:cNvPr id="9" name="TextBox 8"/>
          <p:cNvSpPr txBox="1"/>
          <p:nvPr/>
        </p:nvSpPr>
        <p:spPr>
          <a:xfrm>
            <a:off x="621792" y="1773936"/>
            <a:ext cx="3566160" cy="274320"/>
          </a:xfrm>
          <a:prstGeom prst="rect">
            <a:avLst/>
          </a:prstGeom>
          <a:noFill/>
        </p:spPr>
        <p:txBody>
          <a:bodyPr wrap="square">
            <a:spAutoFit/>
          </a:bodyPr>
          <a:lstStyle/>
          <a:p>
            <a:pPr algn="l"/>
            <a:r>
              <a:rPr sz="1000" b="0" i="0">
                <a:solidFill>
                  <a:srgbClr val="7878A0"/>
                </a:solidFill>
              </a:rPr>
              <a:t>Gets 6-char code</a:t>
            </a:r>
          </a:p>
        </p:txBody>
      </p:sp>
      <p:sp>
        <p:nvSpPr>
          <p:cNvPr id="10" name="Rectangle 9"/>
          <p:cNvSpPr/>
          <p:nvPr/>
        </p:nvSpPr>
        <p:spPr>
          <a:xfrm>
            <a:off x="2103120" y="2121408"/>
            <a:ext cx="54864" cy="256032"/>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31720"/>
            <a:ext cx="3840480" cy="749808"/>
          </a:xfrm>
          <a:prstGeom prst="rect">
            <a:avLst/>
          </a:prstGeom>
          <a:solidFill>
            <a:srgbClr val="20202E"/>
          </a:solidFill>
          <a:ln w="2540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331720"/>
            <a:ext cx="64008" cy="749808"/>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86584"/>
            <a:ext cx="3566160" cy="347472"/>
          </a:xfrm>
          <a:prstGeom prst="rect">
            <a:avLst/>
          </a:prstGeom>
          <a:noFill/>
        </p:spPr>
        <p:txBody>
          <a:bodyPr wrap="square">
            <a:spAutoFit/>
          </a:bodyPr>
          <a:lstStyle/>
          <a:p>
            <a:pPr algn="l"/>
            <a:r>
              <a:rPr sz="1300" b="1" i="0">
                <a:solidFill>
                  <a:srgbClr val="4D8FFF"/>
                </a:solidFill>
              </a:rPr>
              <a:t>Clients Join</a:t>
            </a:r>
          </a:p>
        </p:txBody>
      </p:sp>
      <p:sp>
        <p:nvSpPr>
          <p:cNvPr id="14" name="TextBox 13"/>
          <p:cNvSpPr txBox="1"/>
          <p:nvPr/>
        </p:nvSpPr>
        <p:spPr>
          <a:xfrm>
            <a:off x="621792" y="2734056"/>
            <a:ext cx="3566160" cy="274320"/>
          </a:xfrm>
          <a:prstGeom prst="rect">
            <a:avLst/>
          </a:prstGeom>
          <a:noFill/>
        </p:spPr>
        <p:txBody>
          <a:bodyPr wrap="square">
            <a:spAutoFit/>
          </a:bodyPr>
          <a:lstStyle/>
          <a:p>
            <a:pPr algn="l"/>
            <a:r>
              <a:rPr sz="1000" b="0" i="0">
                <a:solidFill>
                  <a:srgbClr val="7878A0"/>
                </a:solidFill>
              </a:rPr>
              <a:t>Enter code, load COCO-SSD model</a:t>
            </a:r>
          </a:p>
        </p:txBody>
      </p:sp>
      <p:sp>
        <p:nvSpPr>
          <p:cNvPr id="15" name="Rectangle 14"/>
          <p:cNvSpPr/>
          <p:nvPr/>
        </p:nvSpPr>
        <p:spPr>
          <a:xfrm>
            <a:off x="2103120" y="3081528"/>
            <a:ext cx="54864" cy="256032"/>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291840"/>
            <a:ext cx="3840480" cy="749808"/>
          </a:xfrm>
          <a:prstGeom prst="rect">
            <a:avLst/>
          </a:prstGeom>
          <a:solidFill>
            <a:srgbClr val="20202E"/>
          </a:solidFill>
          <a:ln w="2540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291840"/>
            <a:ext cx="64008" cy="74980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3346704"/>
            <a:ext cx="3566160" cy="347472"/>
          </a:xfrm>
          <a:prstGeom prst="rect">
            <a:avLst/>
          </a:prstGeom>
          <a:noFill/>
        </p:spPr>
        <p:txBody>
          <a:bodyPr wrap="square">
            <a:spAutoFit/>
          </a:bodyPr>
          <a:lstStyle/>
          <a:p>
            <a:pPr algn="l"/>
            <a:r>
              <a:rPr sz="1300" b="1" i="0">
                <a:solidFill>
                  <a:srgbClr val="FFAA00"/>
                </a:solidFill>
              </a:rPr>
              <a:t>Host Captures Frame</a:t>
            </a:r>
          </a:p>
        </p:txBody>
      </p:sp>
      <p:sp>
        <p:nvSpPr>
          <p:cNvPr id="19" name="TextBox 18"/>
          <p:cNvSpPr txBox="1"/>
          <p:nvPr/>
        </p:nvSpPr>
        <p:spPr>
          <a:xfrm>
            <a:off x="621792" y="3694176"/>
            <a:ext cx="3566160" cy="274320"/>
          </a:xfrm>
          <a:prstGeom prst="rect">
            <a:avLst/>
          </a:prstGeom>
          <a:noFill/>
        </p:spPr>
        <p:txBody>
          <a:bodyPr wrap="square">
            <a:spAutoFit/>
          </a:bodyPr>
          <a:lstStyle/>
          <a:p>
            <a:pPr algn="l"/>
            <a:r>
              <a:rPr sz="1000" b="0" i="0">
                <a:solidFill>
                  <a:srgbClr val="7878A0"/>
                </a:solidFill>
              </a:rPr>
              <a:t>Camera / Upload / Record (220ms interval)</a:t>
            </a:r>
          </a:p>
        </p:txBody>
      </p:sp>
      <p:sp>
        <p:nvSpPr>
          <p:cNvPr id="20" name="Rectangle 19"/>
          <p:cNvSpPr/>
          <p:nvPr/>
        </p:nvSpPr>
        <p:spPr>
          <a:xfrm>
            <a:off x="2103120" y="4041648"/>
            <a:ext cx="54864" cy="25603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251960"/>
            <a:ext cx="3840480" cy="749808"/>
          </a:xfrm>
          <a:prstGeom prst="rect">
            <a:avLst/>
          </a:prstGeom>
          <a:solidFill>
            <a:srgbClr val="20202E"/>
          </a:solidFill>
          <a:ln w="2540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251960"/>
            <a:ext cx="64008" cy="749808"/>
          </a:xfrm>
          <a:prstGeom prst="rect">
            <a:avLst/>
          </a:prstGeom>
          <a:solidFill>
            <a:srgbClr val="AA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4306824"/>
            <a:ext cx="3566160" cy="347472"/>
          </a:xfrm>
          <a:prstGeom prst="rect">
            <a:avLst/>
          </a:prstGeom>
          <a:noFill/>
        </p:spPr>
        <p:txBody>
          <a:bodyPr wrap="square">
            <a:spAutoFit/>
          </a:bodyPr>
          <a:lstStyle/>
          <a:p>
            <a:pPr algn="l"/>
            <a:r>
              <a:rPr sz="1300" b="1" i="0">
                <a:solidFill>
                  <a:srgbClr val="AA66FF"/>
                </a:solidFill>
              </a:rPr>
              <a:t>Frame Dispatched x4</a:t>
            </a:r>
          </a:p>
        </p:txBody>
      </p:sp>
      <p:sp>
        <p:nvSpPr>
          <p:cNvPr id="24" name="TextBox 23"/>
          <p:cNvSpPr txBox="1"/>
          <p:nvPr/>
        </p:nvSpPr>
        <p:spPr>
          <a:xfrm>
            <a:off x="621792" y="4654296"/>
            <a:ext cx="3566160" cy="274320"/>
          </a:xfrm>
          <a:prstGeom prst="rect">
            <a:avLst/>
          </a:prstGeom>
          <a:noFill/>
        </p:spPr>
        <p:txBody>
          <a:bodyPr wrap="square">
            <a:spAutoFit/>
          </a:bodyPr>
          <a:lstStyle/>
          <a:p>
            <a:pPr algn="l"/>
            <a:r>
              <a:rPr sz="1000" b="0" i="0">
                <a:solidFill>
                  <a:srgbClr val="7878A0"/>
                </a:solidFill>
              </a:rPr>
              <a:t>One copy per scheduler simultaneously</a:t>
            </a:r>
          </a:p>
        </p:txBody>
      </p:sp>
      <p:sp>
        <p:nvSpPr>
          <p:cNvPr id="25" name="Rectangle 24"/>
          <p:cNvSpPr/>
          <p:nvPr/>
        </p:nvSpPr>
        <p:spPr>
          <a:xfrm>
            <a:off x="2103120" y="5001768"/>
            <a:ext cx="54864" cy="256032"/>
          </a:xfrm>
          <a:prstGeom prst="rect">
            <a:avLst/>
          </a:prstGeom>
          <a:solidFill>
            <a:srgbClr val="AA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212080"/>
            <a:ext cx="3840480" cy="749808"/>
          </a:xfrm>
          <a:prstGeom prst="rect">
            <a:avLst/>
          </a:prstGeom>
          <a:solidFill>
            <a:srgbClr val="20202E"/>
          </a:solidFill>
          <a:ln w="2540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212080"/>
            <a:ext cx="64008" cy="749808"/>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5266944"/>
            <a:ext cx="3566160" cy="347472"/>
          </a:xfrm>
          <a:prstGeom prst="rect">
            <a:avLst/>
          </a:prstGeom>
          <a:noFill/>
        </p:spPr>
        <p:txBody>
          <a:bodyPr wrap="square">
            <a:spAutoFit/>
          </a:bodyPr>
          <a:lstStyle/>
          <a:p>
            <a:pPr algn="l"/>
            <a:r>
              <a:rPr sz="1300" b="1" i="0">
                <a:solidFill>
                  <a:srgbClr val="FF4466"/>
                </a:solidFill>
              </a:rPr>
              <a:t>Client Inference</a:t>
            </a:r>
          </a:p>
        </p:txBody>
      </p:sp>
      <p:sp>
        <p:nvSpPr>
          <p:cNvPr id="29" name="TextBox 28"/>
          <p:cNvSpPr txBox="1"/>
          <p:nvPr/>
        </p:nvSpPr>
        <p:spPr>
          <a:xfrm>
            <a:off x="621792" y="5614416"/>
            <a:ext cx="3566160" cy="274320"/>
          </a:xfrm>
          <a:prstGeom prst="rect">
            <a:avLst/>
          </a:prstGeom>
          <a:noFill/>
        </p:spPr>
        <p:txBody>
          <a:bodyPr wrap="square">
            <a:spAutoFit/>
          </a:bodyPr>
          <a:lstStyle/>
          <a:p>
            <a:pPr algn="l"/>
            <a:r>
              <a:rPr sz="1000" b="0" i="0">
                <a:solidFill>
                  <a:srgbClr val="7878A0"/>
                </a:solidFill>
              </a:rPr>
              <a:t>COCO-SSD detects objects on-device</a:t>
            </a:r>
          </a:p>
        </p:txBody>
      </p:sp>
      <p:sp>
        <p:nvSpPr>
          <p:cNvPr id="30" name="TextBox 29"/>
          <p:cNvSpPr txBox="1"/>
          <p:nvPr/>
        </p:nvSpPr>
        <p:spPr>
          <a:xfrm>
            <a:off x="4754880" y="4160520"/>
            <a:ext cx="7040880" cy="320040"/>
          </a:xfrm>
          <a:prstGeom prst="rect">
            <a:avLst/>
          </a:prstGeom>
          <a:noFill/>
        </p:spPr>
        <p:txBody>
          <a:bodyPr wrap="square">
            <a:spAutoFit/>
          </a:bodyPr>
          <a:lstStyle/>
          <a:p>
            <a:pPr algn="l"/>
            <a:r>
              <a:rPr sz="1300" b="1" i="0">
                <a:solidFill>
                  <a:srgbClr val="AA66FF"/>
                </a:solidFill>
              </a:rPr>
              <a:t>Scheduler Dispatch</a:t>
            </a:r>
          </a:p>
        </p:txBody>
      </p:sp>
      <p:sp>
        <p:nvSpPr>
          <p:cNvPr id="31" name="Rectangle 30"/>
          <p:cNvSpPr/>
          <p:nvPr/>
        </p:nvSpPr>
        <p:spPr>
          <a:xfrm>
            <a:off x="4754880" y="4572000"/>
            <a:ext cx="1554480" cy="594360"/>
          </a:xfrm>
          <a:prstGeom prst="rect">
            <a:avLst/>
          </a:prstGeom>
          <a:solidFill>
            <a:srgbClr val="181826"/>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54880" y="4572000"/>
            <a:ext cx="1554480" cy="594360"/>
          </a:xfrm>
          <a:prstGeom prst="rect">
            <a:avLst/>
          </a:prstGeom>
          <a:noFill/>
        </p:spPr>
        <p:txBody>
          <a:bodyPr wrap="square">
            <a:spAutoFit/>
          </a:bodyPr>
          <a:lstStyle/>
          <a:p>
            <a:pPr algn="ctr"/>
            <a:r>
              <a:rPr sz="1200" b="1" i="0">
                <a:solidFill>
                  <a:srgbClr val="00FF88"/>
                </a:solidFill>
              </a:rPr>
              <a:t>Greedy</a:t>
            </a:r>
          </a:p>
        </p:txBody>
      </p:sp>
      <p:sp>
        <p:nvSpPr>
          <p:cNvPr id="33" name="Rectangle 32"/>
          <p:cNvSpPr/>
          <p:nvPr/>
        </p:nvSpPr>
        <p:spPr>
          <a:xfrm>
            <a:off x="6492240" y="4572000"/>
            <a:ext cx="1554480" cy="594360"/>
          </a:xfrm>
          <a:prstGeom prst="rect">
            <a:avLst/>
          </a:prstGeom>
          <a:solidFill>
            <a:srgbClr val="181826"/>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4572000"/>
            <a:ext cx="1554480" cy="594360"/>
          </a:xfrm>
          <a:prstGeom prst="rect">
            <a:avLst/>
          </a:prstGeom>
          <a:noFill/>
        </p:spPr>
        <p:txBody>
          <a:bodyPr wrap="square">
            <a:spAutoFit/>
          </a:bodyPr>
          <a:lstStyle/>
          <a:p>
            <a:pPr algn="ctr"/>
            <a:r>
              <a:rPr sz="1200" b="1" i="0">
                <a:solidFill>
                  <a:srgbClr val="4D8FFF"/>
                </a:solidFill>
              </a:rPr>
              <a:t>PSO</a:t>
            </a:r>
          </a:p>
        </p:txBody>
      </p:sp>
      <p:sp>
        <p:nvSpPr>
          <p:cNvPr id="35" name="Rectangle 34"/>
          <p:cNvSpPr/>
          <p:nvPr/>
        </p:nvSpPr>
        <p:spPr>
          <a:xfrm>
            <a:off x="8229600" y="4572000"/>
            <a:ext cx="1554480" cy="594360"/>
          </a:xfrm>
          <a:prstGeom prst="rect">
            <a:avLst/>
          </a:prstGeom>
          <a:solidFill>
            <a:srgbClr val="181826"/>
          </a:solidFill>
          <a:ln w="1905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0" y="4572000"/>
            <a:ext cx="1554480" cy="594360"/>
          </a:xfrm>
          <a:prstGeom prst="rect">
            <a:avLst/>
          </a:prstGeom>
          <a:noFill/>
        </p:spPr>
        <p:txBody>
          <a:bodyPr wrap="square">
            <a:spAutoFit/>
          </a:bodyPr>
          <a:lstStyle/>
          <a:p>
            <a:pPr algn="ctr"/>
            <a:r>
              <a:rPr sz="1200" b="1" i="0">
                <a:solidFill>
                  <a:srgbClr val="AA66FF"/>
                </a:solidFill>
              </a:rPr>
              <a:t>MOMPSO</a:t>
            </a:r>
          </a:p>
        </p:txBody>
      </p:sp>
      <p:sp>
        <p:nvSpPr>
          <p:cNvPr id="37" name="Rectangle 36"/>
          <p:cNvSpPr/>
          <p:nvPr/>
        </p:nvSpPr>
        <p:spPr>
          <a:xfrm>
            <a:off x="9966959" y="4572000"/>
            <a:ext cx="1554480" cy="594360"/>
          </a:xfrm>
          <a:prstGeom prst="rect">
            <a:avLst/>
          </a:prstGeom>
          <a:solidFill>
            <a:srgbClr val="18182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66959" y="4572000"/>
            <a:ext cx="1554480" cy="594360"/>
          </a:xfrm>
          <a:prstGeom prst="rect">
            <a:avLst/>
          </a:prstGeom>
          <a:noFill/>
        </p:spPr>
        <p:txBody>
          <a:bodyPr wrap="square">
            <a:spAutoFit/>
          </a:bodyPr>
          <a:lstStyle/>
          <a:p>
            <a:pPr algn="ctr"/>
            <a:r>
              <a:rPr sz="1200" b="1" i="0">
                <a:solidFill>
                  <a:srgbClr val="FFAA00"/>
                </a:solidFill>
              </a:rPr>
              <a:t>MOMPSO-GA</a:t>
            </a:r>
          </a:p>
        </p:txBody>
      </p:sp>
      <p:sp>
        <p:nvSpPr>
          <p:cNvPr id="39" name="Rectangle 38"/>
          <p:cNvSpPr/>
          <p:nvPr/>
        </p:nvSpPr>
        <p:spPr>
          <a:xfrm>
            <a:off x="4754880" y="5349240"/>
            <a:ext cx="7040880" cy="685800"/>
          </a:xfrm>
          <a:prstGeom prst="rect">
            <a:avLst/>
          </a:prstGeom>
          <a:solidFill>
            <a:srgbClr val="002211"/>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37760" y="5413248"/>
            <a:ext cx="6675120" cy="320040"/>
          </a:xfrm>
          <a:prstGeom prst="rect">
            <a:avLst/>
          </a:prstGeom>
          <a:noFill/>
        </p:spPr>
        <p:txBody>
          <a:bodyPr wrap="square">
            <a:spAutoFit/>
          </a:bodyPr>
          <a:lstStyle/>
          <a:p>
            <a:pPr algn="l"/>
            <a:r>
              <a:rPr sz="1300" b="1" i="0">
                <a:solidFill>
                  <a:srgbClr val="00FF88"/>
                </a:solidFill>
              </a:rPr>
              <a:t>Results + Latency sent back to Host</a:t>
            </a:r>
          </a:p>
        </p:txBody>
      </p:sp>
      <p:sp>
        <p:nvSpPr>
          <p:cNvPr id="41" name="TextBox 40"/>
          <p:cNvSpPr txBox="1"/>
          <p:nvPr/>
        </p:nvSpPr>
        <p:spPr>
          <a:xfrm>
            <a:off x="4937760" y="5733288"/>
            <a:ext cx="6675120" cy="256032"/>
          </a:xfrm>
          <a:prstGeom prst="rect">
            <a:avLst/>
          </a:prstGeom>
          <a:noFill/>
        </p:spPr>
        <p:txBody>
          <a:bodyPr wrap="square">
            <a:spAutoFit/>
          </a:bodyPr>
          <a:lstStyle/>
          <a:p>
            <a:pPr algn="l"/>
            <a:r>
              <a:rPr sz="1000" b="0" i="0">
                <a:solidFill>
                  <a:srgbClr val="7878A0"/>
                </a:solidFill>
              </a:rPr>
              <a:t>Detection objects, timestamps, scheduler tag, frame dimensions</a:t>
            </a:r>
          </a:p>
        </p:txBody>
      </p:sp>
      <p:sp>
        <p:nvSpPr>
          <p:cNvPr id="42" name="Rectangle 41"/>
          <p:cNvSpPr/>
          <p:nvPr/>
        </p:nvSpPr>
        <p:spPr>
          <a:xfrm>
            <a:off x="4754880" y="6172200"/>
            <a:ext cx="7040880" cy="548640"/>
          </a:xfrm>
          <a:prstGeom prst="rect">
            <a:avLst/>
          </a:prstGeom>
          <a:solidFill>
            <a:srgbClr val="20202E"/>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0" y="6236208"/>
            <a:ext cx="6675120" cy="411480"/>
          </a:xfrm>
          <a:prstGeom prst="rect">
            <a:avLst/>
          </a:prstGeom>
          <a:noFill/>
        </p:spPr>
        <p:txBody>
          <a:bodyPr wrap="square">
            <a:spAutoFit/>
          </a:bodyPr>
          <a:lstStyle/>
          <a:p>
            <a:pPr algn="l"/>
            <a:r>
              <a:rPr sz="1200" b="1" i="0">
                <a:solidFill>
                  <a:srgbClr val="4D8FFF"/>
                </a:solidFill>
              </a:rPr>
              <a:t>Host Aggregates -&gt; Scheduler Comparison Table (live update)</a:t>
            </a:r>
          </a:p>
        </p:txBody>
      </p:sp>
      <p:sp>
        <p:nvSpPr>
          <p:cNvPr id="44" name="TextBox 43"/>
          <p:cNvSpPr txBox="1"/>
          <p:nvPr/>
        </p:nvSpPr>
        <p:spPr>
          <a:xfrm>
            <a:off x="457200" y="5989320"/>
            <a:ext cx="3840480" cy="274320"/>
          </a:xfrm>
          <a:prstGeom prst="rect">
            <a:avLst/>
          </a:prstGeom>
          <a:noFill/>
        </p:spPr>
        <p:txBody>
          <a:bodyPr wrap="square">
            <a:spAutoFit/>
          </a:bodyPr>
          <a:lstStyle/>
          <a:p>
            <a:pPr algn="l"/>
            <a:r>
              <a:rPr sz="1000" b="0" i="1">
                <a:solidFill>
                  <a:srgbClr val="3E3E58"/>
                </a:solidFill>
              </a:rPr>
              <a:t>Loop: next frame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Task Schedulers</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Four algorithms running simultaneously on every frame</a:t>
            </a:r>
          </a:p>
        </p:txBody>
      </p:sp>
      <p:sp>
        <p:nvSpPr>
          <p:cNvPr id="6" name="Rectangle 5"/>
          <p:cNvSpPr/>
          <p:nvPr/>
        </p:nvSpPr>
        <p:spPr>
          <a:xfrm>
            <a:off x="365760" y="1234440"/>
            <a:ext cx="2788920" cy="5212080"/>
          </a:xfrm>
          <a:prstGeom prst="rect">
            <a:avLst/>
          </a:prstGeom>
          <a:solidFill>
            <a:srgbClr val="181826"/>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2788920" cy="502920"/>
          </a:xfrm>
          <a:prstGeom prst="rect">
            <a:avLst/>
          </a:prstGeom>
          <a:solidFill>
            <a:srgbClr val="0026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280160"/>
            <a:ext cx="2560320" cy="274320"/>
          </a:xfrm>
          <a:prstGeom prst="rect">
            <a:avLst/>
          </a:prstGeom>
          <a:noFill/>
        </p:spPr>
        <p:txBody>
          <a:bodyPr wrap="square">
            <a:spAutoFit/>
          </a:bodyPr>
          <a:lstStyle/>
          <a:p>
            <a:pPr algn="l"/>
            <a:r>
              <a:rPr sz="1300" b="1" i="0">
                <a:solidFill>
                  <a:srgbClr val="00FF88"/>
                </a:solidFill>
              </a:rPr>
              <a:t>Greedy</a:t>
            </a:r>
          </a:p>
        </p:txBody>
      </p:sp>
      <p:sp>
        <p:nvSpPr>
          <p:cNvPr id="9" name="TextBox 8"/>
          <p:cNvSpPr txBox="1"/>
          <p:nvPr/>
        </p:nvSpPr>
        <p:spPr>
          <a:xfrm>
            <a:off x="475488" y="1554480"/>
            <a:ext cx="2560320" cy="201168"/>
          </a:xfrm>
          <a:prstGeom prst="rect">
            <a:avLst/>
          </a:prstGeom>
          <a:noFill/>
        </p:spPr>
        <p:txBody>
          <a:bodyPr wrap="square">
            <a:spAutoFit/>
          </a:bodyPr>
          <a:lstStyle/>
          <a:p>
            <a:pPr algn="l"/>
            <a:r>
              <a:rPr sz="900" b="0" i="0">
                <a:solidFill>
                  <a:srgbClr val="7878A0"/>
                </a:solidFill>
              </a:rPr>
              <a:t>Best health score now</a:t>
            </a:r>
          </a:p>
        </p:txBody>
      </p:sp>
      <p:sp>
        <p:nvSpPr>
          <p:cNvPr id="10" name="Rectangle 9"/>
          <p:cNvSpPr/>
          <p:nvPr/>
        </p:nvSpPr>
        <p:spPr>
          <a:xfrm>
            <a:off x="475488" y="187452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947672"/>
            <a:ext cx="2377440" cy="731520"/>
          </a:xfrm>
          <a:prstGeom prst="rect">
            <a:avLst/>
          </a:prstGeom>
          <a:noFill/>
        </p:spPr>
        <p:txBody>
          <a:bodyPr wrap="square">
            <a:spAutoFit/>
          </a:bodyPr>
          <a:lstStyle/>
          <a:p>
            <a:pPr algn="l"/>
            <a:r>
              <a:rPr sz="1000" b="0" i="0">
                <a:solidFill>
                  <a:srgbClr val="E8E8F4"/>
                </a:solidFill>
              </a:rPr>
              <a:t>Picks client with highest health score at current moment</a:t>
            </a:r>
          </a:p>
        </p:txBody>
      </p:sp>
      <p:sp>
        <p:nvSpPr>
          <p:cNvPr id="12" name="Rectangle 11"/>
          <p:cNvSpPr/>
          <p:nvPr/>
        </p:nvSpPr>
        <p:spPr>
          <a:xfrm>
            <a:off x="475488" y="288036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953512"/>
            <a:ext cx="2377440" cy="731520"/>
          </a:xfrm>
          <a:prstGeom prst="rect">
            <a:avLst/>
          </a:prstGeom>
          <a:noFill/>
        </p:spPr>
        <p:txBody>
          <a:bodyPr wrap="square">
            <a:spAutoFit/>
          </a:bodyPr>
          <a:lstStyle/>
          <a:p>
            <a:pPr algn="l"/>
            <a:r>
              <a:rPr sz="1000" b="0" i="0">
                <a:solidFill>
                  <a:srgbClr val="E8E8F4"/>
                </a:solidFill>
              </a:rPr>
              <a:t>Simple, fast, locally optimal - serves as baseline</a:t>
            </a:r>
          </a:p>
        </p:txBody>
      </p:sp>
      <p:sp>
        <p:nvSpPr>
          <p:cNvPr id="14" name="Rectangle 13"/>
          <p:cNvSpPr/>
          <p:nvPr/>
        </p:nvSpPr>
        <p:spPr>
          <a:xfrm>
            <a:off x="475488" y="388620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959352"/>
            <a:ext cx="2377440" cy="731520"/>
          </a:xfrm>
          <a:prstGeom prst="rect">
            <a:avLst/>
          </a:prstGeom>
          <a:noFill/>
        </p:spPr>
        <p:txBody>
          <a:bodyPr wrap="square">
            <a:spAutoFit/>
          </a:bodyPr>
          <a:lstStyle/>
          <a:p>
            <a:pPr algn="l"/>
            <a:r>
              <a:rPr sz="1000" b="0" i="0">
                <a:solidFill>
                  <a:srgbClr val="E8E8F4"/>
                </a:solidFill>
              </a:rPr>
              <a:t>winner = argmax(hScore(client)) over all clients</a:t>
            </a:r>
          </a:p>
        </p:txBody>
      </p:sp>
      <p:sp>
        <p:nvSpPr>
          <p:cNvPr id="16" name="Rectangle 15"/>
          <p:cNvSpPr/>
          <p:nvPr/>
        </p:nvSpPr>
        <p:spPr>
          <a:xfrm>
            <a:off x="475488" y="489204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965192"/>
            <a:ext cx="2377440" cy="731520"/>
          </a:xfrm>
          <a:prstGeom prst="rect">
            <a:avLst/>
          </a:prstGeom>
          <a:noFill/>
        </p:spPr>
        <p:txBody>
          <a:bodyPr wrap="square">
            <a:spAutoFit/>
          </a:bodyPr>
          <a:lstStyle/>
          <a:p>
            <a:pPr algn="l"/>
            <a:r>
              <a:rPr sz="1000" b="0" i="0">
                <a:solidFill>
                  <a:srgbClr val="E8E8F4"/>
                </a:solidFill>
              </a:rPr>
              <a:t>No memory of past decisions</a:t>
            </a:r>
          </a:p>
        </p:txBody>
      </p:sp>
      <p:sp>
        <p:nvSpPr>
          <p:cNvPr id="18" name="Rectangle 17"/>
          <p:cNvSpPr/>
          <p:nvPr/>
        </p:nvSpPr>
        <p:spPr>
          <a:xfrm>
            <a:off x="3310128" y="1234440"/>
            <a:ext cx="2788920" cy="5212080"/>
          </a:xfrm>
          <a:prstGeom prst="rect">
            <a:avLst/>
          </a:prstGeom>
          <a:solidFill>
            <a:srgbClr val="181826"/>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0128" y="1234440"/>
            <a:ext cx="2788920" cy="502920"/>
          </a:xfrm>
          <a:prstGeom prst="rect">
            <a:avLst/>
          </a:prstGeom>
          <a:solidFill>
            <a:srgbClr val="0B1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9856" y="1280160"/>
            <a:ext cx="2560320" cy="274320"/>
          </a:xfrm>
          <a:prstGeom prst="rect">
            <a:avLst/>
          </a:prstGeom>
          <a:noFill/>
        </p:spPr>
        <p:txBody>
          <a:bodyPr wrap="square">
            <a:spAutoFit/>
          </a:bodyPr>
          <a:lstStyle/>
          <a:p>
            <a:pPr algn="l"/>
            <a:r>
              <a:rPr sz="1300" b="1" i="0">
                <a:solidFill>
                  <a:srgbClr val="4D8FFF"/>
                </a:solidFill>
              </a:rPr>
              <a:t>PSO - Particle Swarm</a:t>
            </a:r>
          </a:p>
        </p:txBody>
      </p:sp>
      <p:sp>
        <p:nvSpPr>
          <p:cNvPr id="21" name="TextBox 20"/>
          <p:cNvSpPr txBox="1"/>
          <p:nvPr/>
        </p:nvSpPr>
        <p:spPr>
          <a:xfrm>
            <a:off x="3419856" y="1554480"/>
            <a:ext cx="2560320" cy="201168"/>
          </a:xfrm>
          <a:prstGeom prst="rect">
            <a:avLst/>
          </a:prstGeom>
          <a:noFill/>
        </p:spPr>
        <p:txBody>
          <a:bodyPr wrap="square">
            <a:spAutoFit/>
          </a:bodyPr>
          <a:lstStyle/>
          <a:p>
            <a:pPr algn="l"/>
            <a:r>
              <a:rPr sz="900" b="0" i="0">
                <a:solidFill>
                  <a:srgbClr val="7878A0"/>
                </a:solidFill>
              </a:rPr>
              <a:t>Swarm-based optimization</a:t>
            </a:r>
          </a:p>
        </p:txBody>
      </p:sp>
      <p:sp>
        <p:nvSpPr>
          <p:cNvPr id="22" name="Rectangle 21"/>
          <p:cNvSpPr/>
          <p:nvPr/>
        </p:nvSpPr>
        <p:spPr>
          <a:xfrm>
            <a:off x="3419856" y="187452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1296" y="1947672"/>
            <a:ext cx="2377440" cy="731520"/>
          </a:xfrm>
          <a:prstGeom prst="rect">
            <a:avLst/>
          </a:prstGeom>
          <a:noFill/>
        </p:spPr>
        <p:txBody>
          <a:bodyPr wrap="square">
            <a:spAutoFit/>
          </a:bodyPr>
          <a:lstStyle/>
          <a:p>
            <a:pPr algn="l"/>
            <a:r>
              <a:rPr sz="1000" b="0" i="0">
                <a:solidFill>
                  <a:srgbClr val="E8E8F4"/>
                </a:solidFill>
              </a:rPr>
              <a:t>8 particles, 6 iterations per scheduling decision</a:t>
            </a:r>
          </a:p>
        </p:txBody>
      </p:sp>
      <p:sp>
        <p:nvSpPr>
          <p:cNvPr id="24" name="Rectangle 23"/>
          <p:cNvSpPr/>
          <p:nvPr/>
        </p:nvSpPr>
        <p:spPr>
          <a:xfrm>
            <a:off x="3419856" y="288036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11296" y="2953512"/>
            <a:ext cx="2377440" cy="731520"/>
          </a:xfrm>
          <a:prstGeom prst="rect">
            <a:avLst/>
          </a:prstGeom>
          <a:noFill/>
        </p:spPr>
        <p:txBody>
          <a:bodyPr wrap="square">
            <a:spAutoFit/>
          </a:bodyPr>
          <a:lstStyle/>
          <a:p>
            <a:pPr algn="l"/>
            <a:r>
              <a:rPr sz="1000" b="0" i="0">
                <a:solidFill>
                  <a:srgbClr val="E8E8F4"/>
                </a:solidFill>
              </a:rPr>
              <a:t>v = 0.72*v + 1.49*r*(pbest-x) + 1.49*r*(gbest-x)</a:t>
            </a:r>
          </a:p>
        </p:txBody>
      </p:sp>
      <p:sp>
        <p:nvSpPr>
          <p:cNvPr id="26" name="Rectangle 25"/>
          <p:cNvSpPr/>
          <p:nvPr/>
        </p:nvSpPr>
        <p:spPr>
          <a:xfrm>
            <a:off x="3419856" y="388620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11296" y="3959352"/>
            <a:ext cx="2377440" cy="731520"/>
          </a:xfrm>
          <a:prstGeom prst="rect">
            <a:avLst/>
          </a:prstGeom>
          <a:noFill/>
        </p:spPr>
        <p:txBody>
          <a:bodyPr wrap="square">
            <a:spAutoFit/>
          </a:bodyPr>
          <a:lstStyle/>
          <a:p>
            <a:pPr algn="l"/>
            <a:r>
              <a:rPr sz="1000" b="0" i="0">
                <a:solidFill>
                  <a:srgbClr val="E8E8F4"/>
                </a:solidFill>
              </a:rPr>
              <a:t>Each particle is a weight vector over client health scores</a:t>
            </a:r>
          </a:p>
        </p:txBody>
      </p:sp>
      <p:sp>
        <p:nvSpPr>
          <p:cNvPr id="28" name="Rectangle 27"/>
          <p:cNvSpPr/>
          <p:nvPr/>
        </p:nvSpPr>
        <p:spPr>
          <a:xfrm>
            <a:off x="3419856" y="489204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11296" y="4965192"/>
            <a:ext cx="2377440" cy="731520"/>
          </a:xfrm>
          <a:prstGeom prst="rect">
            <a:avLst/>
          </a:prstGeom>
          <a:noFill/>
        </p:spPr>
        <p:txBody>
          <a:bodyPr wrap="square">
            <a:spAutoFit/>
          </a:bodyPr>
          <a:lstStyle/>
          <a:p>
            <a:pPr algn="l"/>
            <a:r>
              <a:rPr sz="1000" b="0" i="0">
                <a:solidFill>
                  <a:srgbClr val="E8E8F4"/>
                </a:solidFill>
              </a:rPr>
              <a:t>Global best position selects the winning client</a:t>
            </a:r>
          </a:p>
        </p:txBody>
      </p:sp>
      <p:sp>
        <p:nvSpPr>
          <p:cNvPr id="30" name="Rectangle 29"/>
          <p:cNvSpPr/>
          <p:nvPr/>
        </p:nvSpPr>
        <p:spPr>
          <a:xfrm>
            <a:off x="6254496" y="1234440"/>
            <a:ext cx="2788920" cy="5212080"/>
          </a:xfrm>
          <a:prstGeom prst="rect">
            <a:avLst/>
          </a:prstGeom>
          <a:solidFill>
            <a:srgbClr val="181826"/>
          </a:solidFill>
          <a:ln w="1905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54496" y="1234440"/>
            <a:ext cx="2788920" cy="502920"/>
          </a:xfrm>
          <a:prstGeom prst="rect">
            <a:avLst/>
          </a:prstGeom>
          <a:solidFill>
            <a:srgbClr val="1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64224" y="1280160"/>
            <a:ext cx="2560320" cy="274320"/>
          </a:xfrm>
          <a:prstGeom prst="rect">
            <a:avLst/>
          </a:prstGeom>
          <a:noFill/>
        </p:spPr>
        <p:txBody>
          <a:bodyPr wrap="square">
            <a:spAutoFit/>
          </a:bodyPr>
          <a:lstStyle/>
          <a:p>
            <a:pPr algn="l"/>
            <a:r>
              <a:rPr sz="1300" b="1" i="0">
                <a:solidFill>
                  <a:srgbClr val="AA66FF"/>
                </a:solidFill>
              </a:rPr>
              <a:t>MOMPSO - Multi-Objective</a:t>
            </a:r>
          </a:p>
        </p:txBody>
      </p:sp>
      <p:sp>
        <p:nvSpPr>
          <p:cNvPr id="33" name="TextBox 32"/>
          <p:cNvSpPr txBox="1"/>
          <p:nvPr/>
        </p:nvSpPr>
        <p:spPr>
          <a:xfrm>
            <a:off x="6364224" y="1554480"/>
            <a:ext cx="2560320" cy="201168"/>
          </a:xfrm>
          <a:prstGeom prst="rect">
            <a:avLst/>
          </a:prstGeom>
          <a:noFill/>
        </p:spPr>
        <p:txBody>
          <a:bodyPr wrap="square">
            <a:spAutoFit/>
          </a:bodyPr>
          <a:lstStyle/>
          <a:p>
            <a:pPr algn="l"/>
            <a:r>
              <a:rPr sz="900" b="0" i="0">
                <a:solidFill>
                  <a:srgbClr val="7878A0"/>
                </a:solidFill>
              </a:rPr>
              <a:t>Balances 3 competing objectives</a:t>
            </a:r>
          </a:p>
        </p:txBody>
      </p:sp>
      <p:sp>
        <p:nvSpPr>
          <p:cNvPr id="34" name="Rectangle 33"/>
          <p:cNvSpPr/>
          <p:nvPr/>
        </p:nvSpPr>
        <p:spPr>
          <a:xfrm>
            <a:off x="6364224" y="187452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55664" y="1947672"/>
            <a:ext cx="2377440" cy="731520"/>
          </a:xfrm>
          <a:prstGeom prst="rect">
            <a:avLst/>
          </a:prstGeom>
          <a:noFill/>
        </p:spPr>
        <p:txBody>
          <a:bodyPr wrap="square">
            <a:spAutoFit/>
          </a:bodyPr>
          <a:lstStyle/>
          <a:p>
            <a:pPr algn="l"/>
            <a:r>
              <a:rPr sz="1000" b="0" i="0">
                <a:solidFill>
                  <a:srgbClr val="E8E8F4"/>
                </a:solidFill>
              </a:rPr>
              <a:t>Health score: weight 0.5 (maximize)</a:t>
            </a:r>
          </a:p>
        </p:txBody>
      </p:sp>
      <p:sp>
        <p:nvSpPr>
          <p:cNvPr id="36" name="Rectangle 35"/>
          <p:cNvSpPr/>
          <p:nvPr/>
        </p:nvSpPr>
        <p:spPr>
          <a:xfrm>
            <a:off x="6364224" y="288036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2953512"/>
            <a:ext cx="2377440" cy="731520"/>
          </a:xfrm>
          <a:prstGeom prst="rect">
            <a:avLst/>
          </a:prstGeom>
          <a:noFill/>
        </p:spPr>
        <p:txBody>
          <a:bodyPr wrap="square">
            <a:spAutoFit/>
          </a:bodyPr>
          <a:lstStyle/>
          <a:p>
            <a:pPr algn="l"/>
            <a:r>
              <a:rPr sz="1000" b="0" i="0">
                <a:solidFill>
                  <a:srgbClr val="E8E8F4"/>
                </a:solidFill>
              </a:rPr>
              <a:t>Recent avg latency (last 5 frames): weight 0.3 (minimize)</a:t>
            </a:r>
          </a:p>
        </p:txBody>
      </p:sp>
      <p:sp>
        <p:nvSpPr>
          <p:cNvPr id="38" name="Rectangle 37"/>
          <p:cNvSpPr/>
          <p:nvPr/>
        </p:nvSpPr>
        <p:spPr>
          <a:xfrm>
            <a:off x="6364224" y="388620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55664" y="3959352"/>
            <a:ext cx="2377440" cy="731520"/>
          </a:xfrm>
          <a:prstGeom prst="rect">
            <a:avLst/>
          </a:prstGeom>
          <a:noFill/>
        </p:spPr>
        <p:txBody>
          <a:bodyPr wrap="square">
            <a:spAutoFit/>
          </a:bodyPr>
          <a:lstStyle/>
          <a:p>
            <a:pPr algn="l"/>
            <a:r>
              <a:rPr sz="1000" b="0" i="0">
                <a:solidFill>
                  <a:srgbClr val="E8E8F4"/>
                </a:solidFill>
              </a:rPr>
              <a:t>Pending frame queue depth: weight 0.2 (minimize)</a:t>
            </a:r>
          </a:p>
        </p:txBody>
      </p:sp>
      <p:sp>
        <p:nvSpPr>
          <p:cNvPr id="40" name="Rectangle 39"/>
          <p:cNvSpPr/>
          <p:nvPr/>
        </p:nvSpPr>
        <p:spPr>
          <a:xfrm>
            <a:off x="6364224" y="489204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55664" y="4965192"/>
            <a:ext cx="2377440" cy="731520"/>
          </a:xfrm>
          <a:prstGeom prst="rect">
            <a:avLst/>
          </a:prstGeom>
          <a:noFill/>
        </p:spPr>
        <p:txBody>
          <a:bodyPr wrap="square">
            <a:spAutoFit/>
          </a:bodyPr>
          <a:lstStyle/>
          <a:p>
            <a:pPr algn="l"/>
            <a:r>
              <a:rPr sz="1000" b="0" i="0">
                <a:solidFill>
                  <a:srgbClr val="E8E8F4"/>
                </a:solidFill>
              </a:rPr>
              <a:t>Picks client maximizing composite score</a:t>
            </a:r>
          </a:p>
        </p:txBody>
      </p:sp>
      <p:sp>
        <p:nvSpPr>
          <p:cNvPr id="42" name="Rectangle 41"/>
          <p:cNvSpPr/>
          <p:nvPr/>
        </p:nvSpPr>
        <p:spPr>
          <a:xfrm>
            <a:off x="9198864" y="1234440"/>
            <a:ext cx="2788920" cy="5212080"/>
          </a:xfrm>
          <a:prstGeom prst="rect">
            <a:avLst/>
          </a:prstGeom>
          <a:solidFill>
            <a:srgbClr val="18182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198864" y="1234440"/>
            <a:ext cx="2788920" cy="502920"/>
          </a:xfrm>
          <a:prstGeom prst="rect">
            <a:avLst/>
          </a:prstGeom>
          <a:solidFill>
            <a:srgbClr val="261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08592" y="1280160"/>
            <a:ext cx="2560320" cy="274320"/>
          </a:xfrm>
          <a:prstGeom prst="rect">
            <a:avLst/>
          </a:prstGeom>
          <a:noFill/>
        </p:spPr>
        <p:txBody>
          <a:bodyPr wrap="square">
            <a:spAutoFit/>
          </a:bodyPr>
          <a:lstStyle/>
          <a:p>
            <a:pPr algn="l"/>
            <a:r>
              <a:rPr sz="1300" b="1" i="0">
                <a:solidFill>
                  <a:srgbClr val="FFAA00"/>
                </a:solidFill>
              </a:rPr>
              <a:t>MOMPSO-GA - PSO + Genetic</a:t>
            </a:r>
          </a:p>
        </p:txBody>
      </p:sp>
      <p:sp>
        <p:nvSpPr>
          <p:cNvPr id="45" name="TextBox 44"/>
          <p:cNvSpPr txBox="1"/>
          <p:nvPr/>
        </p:nvSpPr>
        <p:spPr>
          <a:xfrm>
            <a:off x="9308592" y="1554480"/>
            <a:ext cx="2560320" cy="201168"/>
          </a:xfrm>
          <a:prstGeom prst="rect">
            <a:avLst/>
          </a:prstGeom>
          <a:noFill/>
        </p:spPr>
        <p:txBody>
          <a:bodyPr wrap="square">
            <a:spAutoFit/>
          </a:bodyPr>
          <a:lstStyle/>
          <a:p>
            <a:pPr algn="l"/>
            <a:r>
              <a:rPr sz="900" b="0" i="0">
                <a:solidFill>
                  <a:srgbClr val="7878A0"/>
                </a:solidFill>
              </a:rPr>
              <a:t>Adaptive with crossover</a:t>
            </a:r>
          </a:p>
        </p:txBody>
      </p:sp>
      <p:sp>
        <p:nvSpPr>
          <p:cNvPr id="46" name="Rectangle 45"/>
          <p:cNvSpPr/>
          <p:nvPr/>
        </p:nvSpPr>
        <p:spPr>
          <a:xfrm>
            <a:off x="9308592" y="187452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00032" y="1947672"/>
            <a:ext cx="2377440" cy="731520"/>
          </a:xfrm>
          <a:prstGeom prst="rect">
            <a:avLst/>
          </a:prstGeom>
          <a:noFill/>
        </p:spPr>
        <p:txBody>
          <a:bodyPr wrap="square">
            <a:spAutoFit/>
          </a:bodyPr>
          <a:lstStyle/>
          <a:p>
            <a:pPr algn="l"/>
            <a:r>
              <a:rPr sz="1000" b="0" i="0">
                <a:solidFill>
                  <a:srgbClr val="E8E8F4"/>
                </a:solidFill>
              </a:rPr>
              <a:t>Scores all clients, blends top two at 70/30 ratio</a:t>
            </a:r>
          </a:p>
        </p:txBody>
      </p:sp>
      <p:sp>
        <p:nvSpPr>
          <p:cNvPr id="48" name="Rectangle 47"/>
          <p:cNvSpPr/>
          <p:nvPr/>
        </p:nvSpPr>
        <p:spPr>
          <a:xfrm>
            <a:off x="9308592" y="288036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00032" y="2953512"/>
            <a:ext cx="2377440" cy="731520"/>
          </a:xfrm>
          <a:prstGeom prst="rect">
            <a:avLst/>
          </a:prstGeom>
          <a:noFill/>
        </p:spPr>
        <p:txBody>
          <a:bodyPr wrap="square">
            <a:spAutoFit/>
          </a:bodyPr>
          <a:lstStyle/>
          <a:p>
            <a:pPr algn="l"/>
            <a:r>
              <a:rPr sz="1000" b="0" i="0">
                <a:solidFill>
                  <a:srgbClr val="E8E8F4"/>
                </a:solidFill>
              </a:rPr>
              <a:t>Adds random mutation of +/-0.04 for stochasticity</a:t>
            </a:r>
          </a:p>
        </p:txBody>
      </p:sp>
      <p:sp>
        <p:nvSpPr>
          <p:cNvPr id="50" name="Rectangle 49"/>
          <p:cNvSpPr/>
          <p:nvPr/>
        </p:nvSpPr>
        <p:spPr>
          <a:xfrm>
            <a:off x="9308592" y="388620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00032" y="3959352"/>
            <a:ext cx="2377440" cy="731520"/>
          </a:xfrm>
          <a:prstGeom prst="rect">
            <a:avLst/>
          </a:prstGeom>
          <a:noFill/>
        </p:spPr>
        <p:txBody>
          <a:bodyPr wrap="square">
            <a:spAutoFit/>
          </a:bodyPr>
          <a:lstStyle/>
          <a:p>
            <a:pPr algn="l"/>
            <a:r>
              <a:rPr sz="1000" b="0" i="0">
                <a:solidFill>
                  <a:srgbClr val="E8E8F4"/>
                </a:solidFill>
              </a:rPr>
              <a:t>Picks client closest to blended value</a:t>
            </a:r>
          </a:p>
        </p:txBody>
      </p:sp>
      <p:sp>
        <p:nvSpPr>
          <p:cNvPr id="52" name="Rectangle 51"/>
          <p:cNvSpPr/>
          <p:nvPr/>
        </p:nvSpPr>
        <p:spPr>
          <a:xfrm>
            <a:off x="9308592" y="4892040"/>
            <a:ext cx="2560320" cy="86868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400032" y="4965192"/>
            <a:ext cx="2377440" cy="731520"/>
          </a:xfrm>
          <a:prstGeom prst="rect">
            <a:avLst/>
          </a:prstGeom>
          <a:noFill/>
        </p:spPr>
        <p:txBody>
          <a:bodyPr wrap="square">
            <a:spAutoFit/>
          </a:bodyPr>
          <a:lstStyle/>
          <a:p>
            <a:pPr algn="l"/>
            <a:r>
              <a:rPr sz="1000" b="0" i="0">
                <a:solidFill>
                  <a:srgbClr val="E8E8F4"/>
                </a:solidFill>
              </a:rPr>
              <a:t>Avoids local optima via controlled randomness</a:t>
            </a:r>
          </a:p>
        </p:txBody>
      </p:sp>
      <p:sp>
        <p:nvSpPr>
          <p:cNvPr id="54" name="Rectangle 53"/>
          <p:cNvSpPr/>
          <p:nvPr/>
        </p:nvSpPr>
        <p:spPr>
          <a:xfrm>
            <a:off x="365760" y="6446520"/>
            <a:ext cx="11430000" cy="32004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6473952"/>
            <a:ext cx="11064240" cy="256032"/>
          </a:xfrm>
          <a:prstGeom prst="rect">
            <a:avLst/>
          </a:prstGeom>
          <a:noFill/>
        </p:spPr>
        <p:txBody>
          <a:bodyPr wrap="square">
            <a:spAutoFit/>
          </a:bodyPr>
          <a:lstStyle/>
          <a:p>
            <a:pPr algn="l"/>
            <a:r>
              <a:rPr sz="1000" b="0" i="0">
                <a:solidFill>
                  <a:srgbClr val="7878A0"/>
                </a:solidFill>
              </a:rPr>
              <a:t>Health Score = battery*0.20 + cpuFree*0.28 + throughput*0.32 + fps*0.22 + 1/(1+pending)*0.18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Results: Energy Consumption</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Scheduler comparison - 1000 task batch</a:t>
            </a:r>
          </a:p>
        </p:txBody>
      </p:sp>
      <p:sp>
        <p:nvSpPr>
          <p:cNvPr id="6" name="Rectangle 5"/>
          <p:cNvSpPr/>
          <p:nvPr/>
        </p:nvSpPr>
        <p:spPr>
          <a:xfrm>
            <a:off x="365760" y="1234440"/>
            <a:ext cx="777240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406640" cy="347472"/>
          </a:xfrm>
          <a:prstGeom prst="rect">
            <a:avLst/>
          </a:prstGeom>
          <a:noFill/>
        </p:spPr>
        <p:txBody>
          <a:bodyPr wrap="square">
            <a:spAutoFit/>
          </a:bodyPr>
          <a:lstStyle/>
          <a:p>
            <a:pPr algn="l"/>
            <a:r>
              <a:rPr sz="1400" b="1" i="0">
                <a:solidFill>
                  <a:srgbClr val="E8E8F4"/>
                </a:solidFill>
              </a:rPr>
              <a:t>Energy Consumption by Scheduler (kJ)</a:t>
            </a:r>
          </a:p>
        </p:txBody>
      </p:sp>
      <p:sp>
        <p:nvSpPr>
          <p:cNvPr id="8" name="TextBox 7"/>
          <p:cNvSpPr txBox="1"/>
          <p:nvPr/>
        </p:nvSpPr>
        <p:spPr>
          <a:xfrm>
            <a:off x="548640" y="1673352"/>
            <a:ext cx="2743200" cy="256032"/>
          </a:xfrm>
          <a:prstGeom prst="rect">
            <a:avLst/>
          </a:prstGeom>
          <a:noFill/>
        </p:spPr>
        <p:txBody>
          <a:bodyPr wrap="square">
            <a:spAutoFit/>
          </a:bodyPr>
          <a:lstStyle/>
          <a:p>
            <a:pPr algn="l"/>
            <a:r>
              <a:rPr sz="1000" b="0" i="1">
                <a:solidFill>
                  <a:srgbClr val="7878A0"/>
                </a:solidFill>
              </a:rPr>
              <a:t>Lower is better</a:t>
            </a:r>
          </a:p>
        </p:txBody>
      </p:sp>
      <p:sp>
        <p:nvSpPr>
          <p:cNvPr id="9" name="Rectangle 8"/>
          <p:cNvSpPr/>
          <p:nvPr/>
        </p:nvSpPr>
        <p:spPr>
          <a:xfrm>
            <a:off x="1353312" y="2593238"/>
            <a:ext cx="1097280" cy="3258921"/>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2300630"/>
            <a:ext cx="1280160" cy="274320"/>
          </a:xfrm>
          <a:prstGeom prst="rect">
            <a:avLst/>
          </a:prstGeom>
          <a:noFill/>
        </p:spPr>
        <p:txBody>
          <a:bodyPr wrap="square">
            <a:spAutoFit/>
          </a:bodyPr>
          <a:lstStyle/>
          <a:p>
            <a:pPr algn="ctr"/>
            <a:r>
              <a:rPr sz="1100" b="1" i="0">
                <a:solidFill>
                  <a:srgbClr val="E8E8F4"/>
                </a:solidFill>
              </a:rPr>
              <a:t>23.76 kJ</a:t>
            </a:r>
          </a:p>
        </p:txBody>
      </p:sp>
      <p:sp>
        <p:nvSpPr>
          <p:cNvPr id="11" name="TextBox 10"/>
          <p:cNvSpPr txBox="1"/>
          <p:nvPr/>
        </p:nvSpPr>
        <p:spPr>
          <a:xfrm>
            <a:off x="1261872" y="5925312"/>
            <a:ext cx="1280160" cy="274320"/>
          </a:xfrm>
          <a:prstGeom prst="rect">
            <a:avLst/>
          </a:prstGeom>
          <a:noFill/>
        </p:spPr>
        <p:txBody>
          <a:bodyPr wrap="square">
            <a:spAutoFit/>
          </a:bodyPr>
          <a:lstStyle/>
          <a:p>
            <a:pPr algn="ctr"/>
            <a:r>
              <a:rPr sz="1100" b="0" i="0">
                <a:solidFill>
                  <a:srgbClr val="7878A0"/>
                </a:solidFill>
              </a:rPr>
              <a:t>Greedy</a:t>
            </a:r>
          </a:p>
        </p:txBody>
      </p:sp>
      <p:sp>
        <p:nvSpPr>
          <p:cNvPr id="12" name="Rectangle 11"/>
          <p:cNvSpPr/>
          <p:nvPr/>
        </p:nvSpPr>
        <p:spPr>
          <a:xfrm>
            <a:off x="2889504" y="2623413"/>
            <a:ext cx="1097280" cy="3228746"/>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98064" y="2330805"/>
            <a:ext cx="1280160" cy="274320"/>
          </a:xfrm>
          <a:prstGeom prst="rect">
            <a:avLst/>
          </a:prstGeom>
          <a:noFill/>
        </p:spPr>
        <p:txBody>
          <a:bodyPr wrap="square">
            <a:spAutoFit/>
          </a:bodyPr>
          <a:lstStyle/>
          <a:p>
            <a:pPr algn="ctr"/>
            <a:r>
              <a:rPr sz="1100" b="1" i="0">
                <a:solidFill>
                  <a:srgbClr val="E8E8F4"/>
                </a:solidFill>
              </a:rPr>
              <a:t>23.54 kJ</a:t>
            </a:r>
          </a:p>
        </p:txBody>
      </p:sp>
      <p:sp>
        <p:nvSpPr>
          <p:cNvPr id="14" name="TextBox 13"/>
          <p:cNvSpPr txBox="1"/>
          <p:nvPr/>
        </p:nvSpPr>
        <p:spPr>
          <a:xfrm>
            <a:off x="2798064" y="5925312"/>
            <a:ext cx="1280160" cy="274320"/>
          </a:xfrm>
          <a:prstGeom prst="rect">
            <a:avLst/>
          </a:prstGeom>
          <a:noFill/>
        </p:spPr>
        <p:txBody>
          <a:bodyPr wrap="square">
            <a:spAutoFit/>
          </a:bodyPr>
          <a:lstStyle/>
          <a:p>
            <a:pPr algn="ctr"/>
            <a:r>
              <a:rPr sz="1100" b="0" i="0">
                <a:solidFill>
                  <a:srgbClr val="7878A0"/>
                </a:solidFill>
              </a:rPr>
              <a:t>PSO</a:t>
            </a:r>
          </a:p>
        </p:txBody>
      </p:sp>
      <p:sp>
        <p:nvSpPr>
          <p:cNvPr id="15" name="Rectangle 14"/>
          <p:cNvSpPr/>
          <p:nvPr/>
        </p:nvSpPr>
        <p:spPr>
          <a:xfrm>
            <a:off x="4425696" y="4292650"/>
            <a:ext cx="1097280" cy="1559509"/>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6" y="4000042"/>
            <a:ext cx="1280160" cy="274320"/>
          </a:xfrm>
          <a:prstGeom prst="rect">
            <a:avLst/>
          </a:prstGeom>
          <a:noFill/>
        </p:spPr>
        <p:txBody>
          <a:bodyPr wrap="square">
            <a:spAutoFit/>
          </a:bodyPr>
          <a:lstStyle/>
          <a:p>
            <a:pPr algn="ctr"/>
            <a:r>
              <a:rPr sz="1100" b="1" i="0">
                <a:solidFill>
                  <a:srgbClr val="E8E8F4"/>
                </a:solidFill>
              </a:rPr>
              <a:t>11.37 kJ</a:t>
            </a:r>
          </a:p>
        </p:txBody>
      </p:sp>
      <p:sp>
        <p:nvSpPr>
          <p:cNvPr id="17" name="TextBox 16"/>
          <p:cNvSpPr txBox="1"/>
          <p:nvPr/>
        </p:nvSpPr>
        <p:spPr>
          <a:xfrm>
            <a:off x="4334256" y="5925312"/>
            <a:ext cx="1280160" cy="274320"/>
          </a:xfrm>
          <a:prstGeom prst="rect">
            <a:avLst/>
          </a:prstGeom>
          <a:noFill/>
        </p:spPr>
        <p:txBody>
          <a:bodyPr wrap="square">
            <a:spAutoFit/>
          </a:bodyPr>
          <a:lstStyle/>
          <a:p>
            <a:pPr algn="ctr"/>
            <a:r>
              <a:rPr sz="1100" b="0" i="0">
                <a:solidFill>
                  <a:srgbClr val="7878A0"/>
                </a:solidFill>
              </a:rPr>
              <a:t>MOMPSO</a:t>
            </a:r>
          </a:p>
        </p:txBody>
      </p:sp>
      <p:sp>
        <p:nvSpPr>
          <p:cNvPr id="18" name="Rectangle 17"/>
          <p:cNvSpPr/>
          <p:nvPr/>
        </p:nvSpPr>
        <p:spPr>
          <a:xfrm>
            <a:off x="5961888" y="3867454"/>
            <a:ext cx="1097280" cy="1984705"/>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70448" y="3574846"/>
            <a:ext cx="1280160" cy="274320"/>
          </a:xfrm>
          <a:prstGeom prst="rect">
            <a:avLst/>
          </a:prstGeom>
          <a:noFill/>
        </p:spPr>
        <p:txBody>
          <a:bodyPr wrap="square">
            <a:spAutoFit/>
          </a:bodyPr>
          <a:lstStyle/>
          <a:p>
            <a:pPr algn="ctr"/>
            <a:r>
              <a:rPr sz="1100" b="1" i="0">
                <a:solidFill>
                  <a:srgbClr val="E8E8F4"/>
                </a:solidFill>
              </a:rPr>
              <a:t>14.47 kJ</a:t>
            </a:r>
          </a:p>
        </p:txBody>
      </p:sp>
      <p:sp>
        <p:nvSpPr>
          <p:cNvPr id="20" name="TextBox 19"/>
          <p:cNvSpPr txBox="1"/>
          <p:nvPr/>
        </p:nvSpPr>
        <p:spPr>
          <a:xfrm>
            <a:off x="5870448" y="5925312"/>
            <a:ext cx="1280160" cy="274320"/>
          </a:xfrm>
          <a:prstGeom prst="rect">
            <a:avLst/>
          </a:prstGeom>
          <a:noFill/>
        </p:spPr>
        <p:txBody>
          <a:bodyPr wrap="square">
            <a:spAutoFit/>
          </a:bodyPr>
          <a:lstStyle/>
          <a:p>
            <a:pPr algn="ctr"/>
            <a:r>
              <a:rPr sz="1100" b="0" i="0">
                <a:solidFill>
                  <a:srgbClr val="7878A0"/>
                </a:solidFill>
              </a:rPr>
              <a:t>MOMPSO-GA</a:t>
            </a:r>
          </a:p>
        </p:txBody>
      </p:sp>
      <p:sp>
        <p:nvSpPr>
          <p:cNvPr id="21" name="TextBox 20"/>
          <p:cNvSpPr txBox="1"/>
          <p:nvPr/>
        </p:nvSpPr>
        <p:spPr>
          <a:xfrm>
            <a:off x="384048" y="3200400"/>
            <a:ext cx="457200" cy="1828800"/>
          </a:xfrm>
          <a:prstGeom prst="rect">
            <a:avLst/>
          </a:prstGeom>
          <a:noFill/>
        </p:spPr>
        <p:txBody>
          <a:bodyPr wrap="square">
            <a:spAutoFit/>
          </a:bodyPr>
          <a:lstStyle/>
          <a:p>
            <a:pPr algn="l"/>
            <a:r>
              <a:rPr sz="1000" b="0" i="0">
                <a:solidFill>
                  <a:srgbClr val="3E3E58"/>
                </a:solidFill>
              </a:rPr>
              <a:t>Energy (kJ)</a:t>
            </a:r>
          </a:p>
        </p:txBody>
      </p:sp>
      <p:sp>
        <p:nvSpPr>
          <p:cNvPr id="22" name="Rectangle 21"/>
          <p:cNvSpPr/>
          <p:nvPr/>
        </p:nvSpPr>
        <p:spPr>
          <a:xfrm>
            <a:off x="914400" y="51663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056632"/>
            <a:ext cx="365760" cy="228600"/>
          </a:xfrm>
          <a:prstGeom prst="rect">
            <a:avLst/>
          </a:prstGeom>
          <a:noFill/>
        </p:spPr>
        <p:txBody>
          <a:bodyPr wrap="square">
            <a:spAutoFit/>
          </a:bodyPr>
          <a:lstStyle/>
          <a:p>
            <a:pPr algn="r"/>
            <a:r>
              <a:rPr sz="800" b="0" i="0">
                <a:solidFill>
                  <a:srgbClr val="3E3E58"/>
                </a:solidFill>
              </a:rPr>
              <a:t>5</a:t>
            </a:r>
          </a:p>
        </p:txBody>
      </p:sp>
      <p:sp>
        <p:nvSpPr>
          <p:cNvPr id="24" name="Rectangle 23"/>
          <p:cNvSpPr/>
          <p:nvPr/>
        </p:nvSpPr>
        <p:spPr>
          <a:xfrm>
            <a:off x="914400" y="44805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370832"/>
            <a:ext cx="365760" cy="228600"/>
          </a:xfrm>
          <a:prstGeom prst="rect">
            <a:avLst/>
          </a:prstGeom>
          <a:noFill/>
        </p:spPr>
        <p:txBody>
          <a:bodyPr wrap="square">
            <a:spAutoFit/>
          </a:bodyPr>
          <a:lstStyle/>
          <a:p>
            <a:pPr algn="r"/>
            <a:r>
              <a:rPr sz="800" b="0" i="0">
                <a:solidFill>
                  <a:srgbClr val="3E3E58"/>
                </a:solidFill>
              </a:rPr>
              <a:t>10</a:t>
            </a:r>
          </a:p>
        </p:txBody>
      </p:sp>
      <p:sp>
        <p:nvSpPr>
          <p:cNvPr id="26" name="Rectangle 25"/>
          <p:cNvSpPr/>
          <p:nvPr/>
        </p:nvSpPr>
        <p:spPr>
          <a:xfrm>
            <a:off x="914400" y="37947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685032"/>
            <a:ext cx="365760" cy="228600"/>
          </a:xfrm>
          <a:prstGeom prst="rect">
            <a:avLst/>
          </a:prstGeom>
          <a:noFill/>
        </p:spPr>
        <p:txBody>
          <a:bodyPr wrap="square">
            <a:spAutoFit/>
          </a:bodyPr>
          <a:lstStyle/>
          <a:p>
            <a:pPr algn="r"/>
            <a:r>
              <a:rPr sz="800" b="0" i="0">
                <a:solidFill>
                  <a:srgbClr val="3E3E58"/>
                </a:solidFill>
              </a:rPr>
              <a:t>15</a:t>
            </a:r>
          </a:p>
        </p:txBody>
      </p:sp>
      <p:sp>
        <p:nvSpPr>
          <p:cNvPr id="28" name="Rectangle 27"/>
          <p:cNvSpPr/>
          <p:nvPr/>
        </p:nvSpPr>
        <p:spPr>
          <a:xfrm>
            <a:off x="914400" y="31089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2999232"/>
            <a:ext cx="365760" cy="228600"/>
          </a:xfrm>
          <a:prstGeom prst="rect">
            <a:avLst/>
          </a:prstGeom>
          <a:noFill/>
        </p:spPr>
        <p:txBody>
          <a:bodyPr wrap="square">
            <a:spAutoFit/>
          </a:bodyPr>
          <a:lstStyle/>
          <a:p>
            <a:pPr algn="r"/>
            <a:r>
              <a:rPr sz="800" b="0" i="0">
                <a:solidFill>
                  <a:srgbClr val="3E3E58"/>
                </a:solidFill>
              </a:rPr>
              <a:t>20</a:t>
            </a:r>
          </a:p>
        </p:txBody>
      </p:sp>
      <p:sp>
        <p:nvSpPr>
          <p:cNvPr id="30" name="Rectangle 29"/>
          <p:cNvSpPr/>
          <p:nvPr/>
        </p:nvSpPr>
        <p:spPr>
          <a:xfrm>
            <a:off x="914400" y="24231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313432"/>
            <a:ext cx="365760" cy="228600"/>
          </a:xfrm>
          <a:prstGeom prst="rect">
            <a:avLst/>
          </a:prstGeom>
          <a:noFill/>
        </p:spPr>
        <p:txBody>
          <a:bodyPr wrap="square">
            <a:spAutoFit/>
          </a:bodyPr>
          <a:lstStyle/>
          <a:p>
            <a:pPr algn="r"/>
            <a:r>
              <a:rPr sz="800" b="0" i="0">
                <a:solidFill>
                  <a:srgbClr val="3E3E58"/>
                </a:solidFill>
              </a:rPr>
              <a:t>25</a:t>
            </a:r>
          </a:p>
        </p:txBody>
      </p:sp>
      <p:sp>
        <p:nvSpPr>
          <p:cNvPr id="32" name="Rectangle 31"/>
          <p:cNvSpPr/>
          <p:nvPr/>
        </p:nvSpPr>
        <p:spPr>
          <a:xfrm>
            <a:off x="8321040" y="1234440"/>
            <a:ext cx="347472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0" y="1325880"/>
            <a:ext cx="3108960" cy="347472"/>
          </a:xfrm>
          <a:prstGeom prst="rect">
            <a:avLst/>
          </a:prstGeom>
          <a:noFill/>
        </p:spPr>
        <p:txBody>
          <a:bodyPr wrap="square">
            <a:spAutoFit/>
          </a:bodyPr>
          <a:lstStyle/>
          <a:p>
            <a:pPr algn="l"/>
            <a:r>
              <a:rPr sz="1500" b="1" i="0">
                <a:solidFill>
                  <a:srgbClr val="00FF88"/>
                </a:solidFill>
              </a:rPr>
              <a:t>Key Insights</a:t>
            </a:r>
          </a:p>
        </p:txBody>
      </p:sp>
      <p:sp>
        <p:nvSpPr>
          <p:cNvPr id="34" name="Rectangle 33"/>
          <p:cNvSpPr/>
          <p:nvPr/>
        </p:nvSpPr>
        <p:spPr>
          <a:xfrm>
            <a:off x="8458200" y="1783080"/>
            <a:ext cx="3200400" cy="960120"/>
          </a:xfrm>
          <a:prstGeom prst="rect">
            <a:avLst/>
          </a:prstGeom>
          <a:solidFill>
            <a:srgbClr val="20202E"/>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0" y="1856232"/>
            <a:ext cx="2926080" cy="320040"/>
          </a:xfrm>
          <a:prstGeom prst="rect">
            <a:avLst/>
          </a:prstGeom>
          <a:noFill/>
        </p:spPr>
        <p:txBody>
          <a:bodyPr wrap="square">
            <a:spAutoFit/>
          </a:bodyPr>
          <a:lstStyle/>
          <a:p>
            <a:pPr algn="l"/>
            <a:r>
              <a:rPr sz="1200" b="1" i="0">
                <a:solidFill>
                  <a:srgbClr val="00FF88"/>
                </a:solidFill>
              </a:rPr>
              <a:t>MOMPSO Best</a:t>
            </a:r>
          </a:p>
        </p:txBody>
      </p:sp>
      <p:sp>
        <p:nvSpPr>
          <p:cNvPr id="36" name="TextBox 35"/>
          <p:cNvSpPr txBox="1"/>
          <p:nvPr/>
        </p:nvSpPr>
        <p:spPr>
          <a:xfrm>
            <a:off x="8595360" y="2194560"/>
            <a:ext cx="2926080" cy="457200"/>
          </a:xfrm>
          <a:prstGeom prst="rect">
            <a:avLst/>
          </a:prstGeom>
          <a:noFill/>
        </p:spPr>
        <p:txBody>
          <a:bodyPr wrap="square">
            <a:spAutoFit/>
          </a:bodyPr>
          <a:lstStyle/>
          <a:p>
            <a:pPr algn="l"/>
            <a:r>
              <a:rPr sz="1000" b="0" i="0">
                <a:solidFill>
                  <a:srgbClr val="7878A0"/>
                </a:solidFill>
              </a:rPr>
              <a:t>11.37 kJ - 52.2% less energy than Greedy</a:t>
            </a:r>
          </a:p>
        </p:txBody>
      </p:sp>
      <p:sp>
        <p:nvSpPr>
          <p:cNvPr id="37" name="Rectangle 36"/>
          <p:cNvSpPr/>
          <p:nvPr/>
        </p:nvSpPr>
        <p:spPr>
          <a:xfrm>
            <a:off x="8458200" y="2898648"/>
            <a:ext cx="3200400" cy="960120"/>
          </a:xfrm>
          <a:prstGeom prst="rect">
            <a:avLst/>
          </a:prstGeom>
          <a:solidFill>
            <a:srgbClr val="20202E"/>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0" y="2971800"/>
            <a:ext cx="2926080" cy="320040"/>
          </a:xfrm>
          <a:prstGeom prst="rect">
            <a:avLst/>
          </a:prstGeom>
          <a:noFill/>
        </p:spPr>
        <p:txBody>
          <a:bodyPr wrap="square">
            <a:spAutoFit/>
          </a:bodyPr>
          <a:lstStyle/>
          <a:p>
            <a:pPr algn="l"/>
            <a:r>
              <a:rPr sz="1200" b="1" i="0">
                <a:solidFill>
                  <a:srgbClr val="FFAA00"/>
                </a:solidFill>
              </a:rPr>
              <a:t>MOMPSO-GA</a:t>
            </a:r>
          </a:p>
        </p:txBody>
      </p:sp>
      <p:sp>
        <p:nvSpPr>
          <p:cNvPr id="39" name="TextBox 38"/>
          <p:cNvSpPr txBox="1"/>
          <p:nvPr/>
        </p:nvSpPr>
        <p:spPr>
          <a:xfrm>
            <a:off x="8595360" y="3310128"/>
            <a:ext cx="2926080" cy="457200"/>
          </a:xfrm>
          <a:prstGeom prst="rect">
            <a:avLst/>
          </a:prstGeom>
          <a:noFill/>
        </p:spPr>
        <p:txBody>
          <a:bodyPr wrap="square">
            <a:spAutoFit/>
          </a:bodyPr>
          <a:lstStyle/>
          <a:p>
            <a:pPr algn="l"/>
            <a:r>
              <a:rPr sz="1000" b="0" i="0">
                <a:solidFill>
                  <a:srgbClr val="7878A0"/>
                </a:solidFill>
              </a:rPr>
              <a:t>14.47 kJ - 39.1% reduction vs Greedy</a:t>
            </a:r>
          </a:p>
        </p:txBody>
      </p:sp>
      <p:sp>
        <p:nvSpPr>
          <p:cNvPr id="40" name="Rectangle 39"/>
          <p:cNvSpPr/>
          <p:nvPr/>
        </p:nvSpPr>
        <p:spPr>
          <a:xfrm>
            <a:off x="8458200" y="4014216"/>
            <a:ext cx="3200400" cy="960120"/>
          </a:xfrm>
          <a:prstGeom prst="rect">
            <a:avLst/>
          </a:prstGeom>
          <a:solidFill>
            <a:srgbClr val="20202E"/>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0" y="4087368"/>
            <a:ext cx="2926080" cy="320040"/>
          </a:xfrm>
          <a:prstGeom prst="rect">
            <a:avLst/>
          </a:prstGeom>
          <a:noFill/>
        </p:spPr>
        <p:txBody>
          <a:bodyPr wrap="square">
            <a:spAutoFit/>
          </a:bodyPr>
          <a:lstStyle/>
          <a:p>
            <a:pPr algn="l"/>
            <a:r>
              <a:rPr sz="1200" b="1" i="0">
                <a:solidFill>
                  <a:srgbClr val="4D8FFF"/>
                </a:solidFill>
              </a:rPr>
              <a:t>PSO Marginal</a:t>
            </a:r>
          </a:p>
        </p:txBody>
      </p:sp>
      <p:sp>
        <p:nvSpPr>
          <p:cNvPr id="42" name="TextBox 41"/>
          <p:cNvSpPr txBox="1"/>
          <p:nvPr/>
        </p:nvSpPr>
        <p:spPr>
          <a:xfrm>
            <a:off x="8595360" y="4425696"/>
            <a:ext cx="2926080" cy="457200"/>
          </a:xfrm>
          <a:prstGeom prst="rect">
            <a:avLst/>
          </a:prstGeom>
          <a:noFill/>
        </p:spPr>
        <p:txBody>
          <a:bodyPr wrap="square">
            <a:spAutoFit/>
          </a:bodyPr>
          <a:lstStyle/>
          <a:p>
            <a:pPr algn="l"/>
            <a:r>
              <a:rPr sz="1000" b="0" i="0">
                <a:solidFill>
                  <a:srgbClr val="7878A0"/>
                </a:solidFill>
              </a:rPr>
              <a:t>23.54 kJ - only 0.9% better than Greedy</a:t>
            </a:r>
          </a:p>
        </p:txBody>
      </p:sp>
      <p:sp>
        <p:nvSpPr>
          <p:cNvPr id="43" name="Rectangle 42"/>
          <p:cNvSpPr/>
          <p:nvPr/>
        </p:nvSpPr>
        <p:spPr>
          <a:xfrm>
            <a:off x="8458200" y="5129784"/>
            <a:ext cx="3200400" cy="960120"/>
          </a:xfrm>
          <a:prstGeom prst="rect">
            <a:avLst/>
          </a:prstGeom>
          <a:solidFill>
            <a:srgbClr val="20202E"/>
          </a:solidFill>
          <a:ln w="1905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0" y="5202936"/>
            <a:ext cx="2926080" cy="320040"/>
          </a:xfrm>
          <a:prstGeom prst="rect">
            <a:avLst/>
          </a:prstGeom>
          <a:noFill/>
        </p:spPr>
        <p:txBody>
          <a:bodyPr wrap="square">
            <a:spAutoFit/>
          </a:bodyPr>
          <a:lstStyle/>
          <a:p>
            <a:pPr algn="l"/>
            <a:r>
              <a:rPr sz="1200" b="1" i="0">
                <a:solidFill>
                  <a:srgbClr val="FF4466"/>
                </a:solidFill>
              </a:rPr>
              <a:t>Greedy Worst</a:t>
            </a:r>
          </a:p>
        </p:txBody>
      </p:sp>
      <p:sp>
        <p:nvSpPr>
          <p:cNvPr id="45" name="TextBox 44"/>
          <p:cNvSpPr txBox="1"/>
          <p:nvPr/>
        </p:nvSpPr>
        <p:spPr>
          <a:xfrm>
            <a:off x="8595360" y="5541264"/>
            <a:ext cx="2926080" cy="457200"/>
          </a:xfrm>
          <a:prstGeom prst="rect">
            <a:avLst/>
          </a:prstGeom>
          <a:noFill/>
        </p:spPr>
        <p:txBody>
          <a:bodyPr wrap="square">
            <a:spAutoFit/>
          </a:bodyPr>
          <a:lstStyle/>
          <a:p>
            <a:pPr algn="l"/>
            <a:r>
              <a:rPr sz="1000" b="0" i="0">
                <a:solidFill>
                  <a:srgbClr val="7878A0"/>
                </a:solidFill>
              </a:rPr>
              <a:t>23.76 kJ - no optimization applied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Results: Completion Time</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Scheduler comparison - task completion speed</a:t>
            </a:r>
          </a:p>
        </p:txBody>
      </p:sp>
      <p:sp>
        <p:nvSpPr>
          <p:cNvPr id="6" name="Rectangle 5"/>
          <p:cNvSpPr/>
          <p:nvPr/>
        </p:nvSpPr>
        <p:spPr>
          <a:xfrm>
            <a:off x="365760" y="1234440"/>
            <a:ext cx="777240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406640" cy="347472"/>
          </a:xfrm>
          <a:prstGeom prst="rect">
            <a:avLst/>
          </a:prstGeom>
          <a:noFill/>
        </p:spPr>
        <p:txBody>
          <a:bodyPr wrap="square">
            <a:spAutoFit/>
          </a:bodyPr>
          <a:lstStyle/>
          <a:p>
            <a:pPr algn="l"/>
            <a:r>
              <a:rPr sz="1400" b="1" i="0">
                <a:solidFill>
                  <a:srgbClr val="E8E8F4"/>
                </a:solidFill>
              </a:rPr>
              <a:t>Completion Time by Scheduler (seconds)</a:t>
            </a:r>
          </a:p>
        </p:txBody>
      </p:sp>
      <p:sp>
        <p:nvSpPr>
          <p:cNvPr id="8" name="TextBox 7"/>
          <p:cNvSpPr txBox="1"/>
          <p:nvPr/>
        </p:nvSpPr>
        <p:spPr>
          <a:xfrm>
            <a:off x="548640" y="1673352"/>
            <a:ext cx="2743200" cy="256032"/>
          </a:xfrm>
          <a:prstGeom prst="rect">
            <a:avLst/>
          </a:prstGeom>
          <a:noFill/>
        </p:spPr>
        <p:txBody>
          <a:bodyPr wrap="square">
            <a:spAutoFit/>
          </a:bodyPr>
          <a:lstStyle/>
          <a:p>
            <a:pPr algn="l"/>
            <a:r>
              <a:rPr sz="1000" b="0" i="1">
                <a:solidFill>
                  <a:srgbClr val="7878A0"/>
                </a:solidFill>
              </a:rPr>
              <a:t>Lower is better</a:t>
            </a:r>
          </a:p>
        </p:txBody>
      </p:sp>
      <p:sp>
        <p:nvSpPr>
          <p:cNvPr id="9" name="Rectangle 8"/>
          <p:cNvSpPr/>
          <p:nvPr/>
        </p:nvSpPr>
        <p:spPr>
          <a:xfrm>
            <a:off x="1353312" y="2467874"/>
            <a:ext cx="1097280" cy="3384285"/>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2175266"/>
            <a:ext cx="1280160" cy="274320"/>
          </a:xfrm>
          <a:prstGeom prst="rect">
            <a:avLst/>
          </a:prstGeom>
          <a:noFill/>
        </p:spPr>
        <p:txBody>
          <a:bodyPr wrap="square">
            <a:spAutoFit/>
          </a:bodyPr>
          <a:lstStyle/>
          <a:p>
            <a:pPr algn="ctr"/>
            <a:r>
              <a:rPr sz="1100" b="1" i="0">
                <a:solidFill>
                  <a:srgbClr val="E8E8F4"/>
                </a:solidFill>
              </a:rPr>
              <a:t>123.37s</a:t>
            </a:r>
          </a:p>
        </p:txBody>
      </p:sp>
      <p:sp>
        <p:nvSpPr>
          <p:cNvPr id="11" name="TextBox 10"/>
          <p:cNvSpPr txBox="1"/>
          <p:nvPr/>
        </p:nvSpPr>
        <p:spPr>
          <a:xfrm>
            <a:off x="1261872" y="5925312"/>
            <a:ext cx="1280160" cy="274320"/>
          </a:xfrm>
          <a:prstGeom prst="rect">
            <a:avLst/>
          </a:prstGeom>
          <a:noFill/>
        </p:spPr>
        <p:txBody>
          <a:bodyPr wrap="square">
            <a:spAutoFit/>
          </a:bodyPr>
          <a:lstStyle/>
          <a:p>
            <a:pPr algn="ctr"/>
            <a:r>
              <a:rPr sz="1100" b="0" i="0">
                <a:solidFill>
                  <a:srgbClr val="7878A0"/>
                </a:solidFill>
              </a:rPr>
              <a:t>Greedy</a:t>
            </a:r>
          </a:p>
        </p:txBody>
      </p:sp>
      <p:sp>
        <p:nvSpPr>
          <p:cNvPr id="12" name="Rectangle 11"/>
          <p:cNvSpPr/>
          <p:nvPr/>
        </p:nvSpPr>
        <p:spPr>
          <a:xfrm>
            <a:off x="2889504" y="3426622"/>
            <a:ext cx="1097280" cy="2425537"/>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98064" y="3134014"/>
            <a:ext cx="1280160" cy="274320"/>
          </a:xfrm>
          <a:prstGeom prst="rect">
            <a:avLst/>
          </a:prstGeom>
          <a:noFill/>
        </p:spPr>
        <p:txBody>
          <a:bodyPr wrap="square">
            <a:spAutoFit/>
          </a:bodyPr>
          <a:lstStyle/>
          <a:p>
            <a:pPr algn="ctr"/>
            <a:r>
              <a:rPr sz="1100" b="1" i="0">
                <a:solidFill>
                  <a:srgbClr val="E8E8F4"/>
                </a:solidFill>
              </a:rPr>
              <a:t>88.42s</a:t>
            </a:r>
          </a:p>
        </p:txBody>
      </p:sp>
      <p:sp>
        <p:nvSpPr>
          <p:cNvPr id="14" name="TextBox 13"/>
          <p:cNvSpPr txBox="1"/>
          <p:nvPr/>
        </p:nvSpPr>
        <p:spPr>
          <a:xfrm>
            <a:off x="2798064" y="5925312"/>
            <a:ext cx="1280160" cy="274320"/>
          </a:xfrm>
          <a:prstGeom prst="rect">
            <a:avLst/>
          </a:prstGeom>
          <a:noFill/>
        </p:spPr>
        <p:txBody>
          <a:bodyPr wrap="square">
            <a:spAutoFit/>
          </a:bodyPr>
          <a:lstStyle/>
          <a:p>
            <a:pPr algn="ctr"/>
            <a:r>
              <a:rPr sz="1100" b="0" i="0">
                <a:solidFill>
                  <a:srgbClr val="7878A0"/>
                </a:solidFill>
              </a:rPr>
              <a:t>PSO</a:t>
            </a:r>
          </a:p>
        </p:txBody>
      </p:sp>
      <p:sp>
        <p:nvSpPr>
          <p:cNvPr id="15" name="Rectangle 14"/>
          <p:cNvSpPr/>
          <p:nvPr/>
        </p:nvSpPr>
        <p:spPr>
          <a:xfrm>
            <a:off x="4425696" y="3515776"/>
            <a:ext cx="1097280" cy="2336383"/>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6" y="3223168"/>
            <a:ext cx="1280160" cy="274320"/>
          </a:xfrm>
          <a:prstGeom prst="rect">
            <a:avLst/>
          </a:prstGeom>
          <a:noFill/>
        </p:spPr>
        <p:txBody>
          <a:bodyPr wrap="square">
            <a:spAutoFit/>
          </a:bodyPr>
          <a:lstStyle/>
          <a:p>
            <a:pPr algn="ctr"/>
            <a:r>
              <a:rPr sz="1100" b="1" i="0">
                <a:solidFill>
                  <a:srgbClr val="E8E8F4"/>
                </a:solidFill>
              </a:rPr>
              <a:t>85.17s</a:t>
            </a:r>
          </a:p>
        </p:txBody>
      </p:sp>
      <p:sp>
        <p:nvSpPr>
          <p:cNvPr id="17" name="TextBox 16"/>
          <p:cNvSpPr txBox="1"/>
          <p:nvPr/>
        </p:nvSpPr>
        <p:spPr>
          <a:xfrm>
            <a:off x="4334256" y="5925312"/>
            <a:ext cx="1280160" cy="274320"/>
          </a:xfrm>
          <a:prstGeom prst="rect">
            <a:avLst/>
          </a:prstGeom>
          <a:noFill/>
        </p:spPr>
        <p:txBody>
          <a:bodyPr wrap="square">
            <a:spAutoFit/>
          </a:bodyPr>
          <a:lstStyle/>
          <a:p>
            <a:pPr algn="ctr"/>
            <a:r>
              <a:rPr sz="1100" b="0" i="0">
                <a:solidFill>
                  <a:srgbClr val="7878A0"/>
                </a:solidFill>
              </a:rPr>
              <a:t>MOMPSO</a:t>
            </a:r>
          </a:p>
        </p:txBody>
      </p:sp>
      <p:sp>
        <p:nvSpPr>
          <p:cNvPr id="18" name="Rectangle 17"/>
          <p:cNvSpPr/>
          <p:nvPr/>
        </p:nvSpPr>
        <p:spPr>
          <a:xfrm>
            <a:off x="5961888" y="3578870"/>
            <a:ext cx="1097280" cy="2273289"/>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70448" y="3286262"/>
            <a:ext cx="1280160" cy="274320"/>
          </a:xfrm>
          <a:prstGeom prst="rect">
            <a:avLst/>
          </a:prstGeom>
          <a:noFill/>
        </p:spPr>
        <p:txBody>
          <a:bodyPr wrap="square">
            <a:spAutoFit/>
          </a:bodyPr>
          <a:lstStyle/>
          <a:p>
            <a:pPr algn="ctr"/>
            <a:r>
              <a:rPr sz="1100" b="1" i="0">
                <a:solidFill>
                  <a:srgbClr val="E8E8F4"/>
                </a:solidFill>
              </a:rPr>
              <a:t>82.87s</a:t>
            </a:r>
          </a:p>
        </p:txBody>
      </p:sp>
      <p:sp>
        <p:nvSpPr>
          <p:cNvPr id="20" name="TextBox 19"/>
          <p:cNvSpPr txBox="1"/>
          <p:nvPr/>
        </p:nvSpPr>
        <p:spPr>
          <a:xfrm>
            <a:off x="5870448" y="5925312"/>
            <a:ext cx="1280160" cy="274320"/>
          </a:xfrm>
          <a:prstGeom prst="rect">
            <a:avLst/>
          </a:prstGeom>
          <a:noFill/>
        </p:spPr>
        <p:txBody>
          <a:bodyPr wrap="square">
            <a:spAutoFit/>
          </a:bodyPr>
          <a:lstStyle/>
          <a:p>
            <a:pPr algn="ctr"/>
            <a:r>
              <a:rPr sz="1100" b="0" i="0">
                <a:solidFill>
                  <a:srgbClr val="7878A0"/>
                </a:solidFill>
              </a:rPr>
              <a:t>MOMPSO-GA</a:t>
            </a:r>
          </a:p>
        </p:txBody>
      </p:sp>
      <p:sp>
        <p:nvSpPr>
          <p:cNvPr id="21" name="TextBox 20"/>
          <p:cNvSpPr txBox="1"/>
          <p:nvPr/>
        </p:nvSpPr>
        <p:spPr>
          <a:xfrm>
            <a:off x="384048" y="3200400"/>
            <a:ext cx="457200" cy="1828800"/>
          </a:xfrm>
          <a:prstGeom prst="rect">
            <a:avLst/>
          </a:prstGeom>
          <a:noFill/>
        </p:spPr>
        <p:txBody>
          <a:bodyPr wrap="square">
            <a:spAutoFit/>
          </a:bodyPr>
          <a:lstStyle/>
          <a:p>
            <a:pPr algn="l"/>
            <a:r>
              <a:rPr sz="1000" b="0" i="0">
                <a:solidFill>
                  <a:srgbClr val="3E3E58"/>
                </a:solidFill>
              </a:rPr>
              <a:t>Time (s)</a:t>
            </a:r>
          </a:p>
        </p:txBody>
      </p:sp>
      <p:sp>
        <p:nvSpPr>
          <p:cNvPr id="22" name="Rectangle 21"/>
          <p:cNvSpPr/>
          <p:nvPr/>
        </p:nvSpPr>
        <p:spPr>
          <a:xfrm>
            <a:off x="914400" y="530352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193792"/>
            <a:ext cx="365760" cy="228600"/>
          </a:xfrm>
          <a:prstGeom prst="rect">
            <a:avLst/>
          </a:prstGeom>
          <a:noFill/>
        </p:spPr>
        <p:txBody>
          <a:bodyPr wrap="square">
            <a:spAutoFit/>
          </a:bodyPr>
          <a:lstStyle/>
          <a:p>
            <a:pPr algn="r"/>
            <a:r>
              <a:rPr sz="800" b="0" i="0">
                <a:solidFill>
                  <a:srgbClr val="3E3E58"/>
                </a:solidFill>
              </a:rPr>
              <a:t>20</a:t>
            </a:r>
          </a:p>
        </p:txBody>
      </p:sp>
      <p:sp>
        <p:nvSpPr>
          <p:cNvPr id="24" name="Rectangle 23"/>
          <p:cNvSpPr/>
          <p:nvPr/>
        </p:nvSpPr>
        <p:spPr>
          <a:xfrm>
            <a:off x="914400" y="475488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645152"/>
            <a:ext cx="365760" cy="228600"/>
          </a:xfrm>
          <a:prstGeom prst="rect">
            <a:avLst/>
          </a:prstGeom>
          <a:noFill/>
        </p:spPr>
        <p:txBody>
          <a:bodyPr wrap="square">
            <a:spAutoFit/>
          </a:bodyPr>
          <a:lstStyle/>
          <a:p>
            <a:pPr algn="r"/>
            <a:r>
              <a:rPr sz="800" b="0" i="0">
                <a:solidFill>
                  <a:srgbClr val="3E3E58"/>
                </a:solidFill>
              </a:rPr>
              <a:t>40</a:t>
            </a:r>
          </a:p>
        </p:txBody>
      </p:sp>
      <p:sp>
        <p:nvSpPr>
          <p:cNvPr id="26" name="Rectangle 25"/>
          <p:cNvSpPr/>
          <p:nvPr/>
        </p:nvSpPr>
        <p:spPr>
          <a:xfrm>
            <a:off x="914400" y="420624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096512"/>
            <a:ext cx="365760" cy="228600"/>
          </a:xfrm>
          <a:prstGeom prst="rect">
            <a:avLst/>
          </a:prstGeom>
          <a:noFill/>
        </p:spPr>
        <p:txBody>
          <a:bodyPr wrap="square">
            <a:spAutoFit/>
          </a:bodyPr>
          <a:lstStyle/>
          <a:p>
            <a:pPr algn="r"/>
            <a:r>
              <a:rPr sz="800" b="0" i="0">
                <a:solidFill>
                  <a:srgbClr val="3E3E58"/>
                </a:solidFill>
              </a:rPr>
              <a:t>60</a:t>
            </a:r>
          </a:p>
        </p:txBody>
      </p:sp>
      <p:sp>
        <p:nvSpPr>
          <p:cNvPr id="28" name="Rectangle 27"/>
          <p:cNvSpPr/>
          <p:nvPr/>
        </p:nvSpPr>
        <p:spPr>
          <a:xfrm>
            <a:off x="914400" y="365760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547872"/>
            <a:ext cx="365760" cy="228600"/>
          </a:xfrm>
          <a:prstGeom prst="rect">
            <a:avLst/>
          </a:prstGeom>
          <a:noFill/>
        </p:spPr>
        <p:txBody>
          <a:bodyPr wrap="square">
            <a:spAutoFit/>
          </a:bodyPr>
          <a:lstStyle/>
          <a:p>
            <a:pPr algn="r"/>
            <a:r>
              <a:rPr sz="800" b="0" i="0">
                <a:solidFill>
                  <a:srgbClr val="3E3E58"/>
                </a:solidFill>
              </a:rPr>
              <a:t>80</a:t>
            </a:r>
          </a:p>
        </p:txBody>
      </p:sp>
      <p:sp>
        <p:nvSpPr>
          <p:cNvPr id="30" name="Rectangle 29"/>
          <p:cNvSpPr/>
          <p:nvPr/>
        </p:nvSpPr>
        <p:spPr>
          <a:xfrm>
            <a:off x="914400" y="31089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999232"/>
            <a:ext cx="365760" cy="228600"/>
          </a:xfrm>
          <a:prstGeom prst="rect">
            <a:avLst/>
          </a:prstGeom>
          <a:noFill/>
        </p:spPr>
        <p:txBody>
          <a:bodyPr wrap="square">
            <a:spAutoFit/>
          </a:bodyPr>
          <a:lstStyle/>
          <a:p>
            <a:pPr algn="r"/>
            <a:r>
              <a:rPr sz="800" b="0" i="0">
                <a:solidFill>
                  <a:srgbClr val="3E3E58"/>
                </a:solidFill>
              </a:rPr>
              <a:t>100</a:t>
            </a:r>
          </a:p>
        </p:txBody>
      </p:sp>
      <p:sp>
        <p:nvSpPr>
          <p:cNvPr id="32" name="Rectangle 31"/>
          <p:cNvSpPr/>
          <p:nvPr/>
        </p:nvSpPr>
        <p:spPr>
          <a:xfrm>
            <a:off x="914400" y="256032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2450592"/>
            <a:ext cx="365760" cy="228600"/>
          </a:xfrm>
          <a:prstGeom prst="rect">
            <a:avLst/>
          </a:prstGeom>
          <a:noFill/>
        </p:spPr>
        <p:txBody>
          <a:bodyPr wrap="square">
            <a:spAutoFit/>
          </a:bodyPr>
          <a:lstStyle/>
          <a:p>
            <a:pPr algn="r"/>
            <a:r>
              <a:rPr sz="800" b="0" i="0">
                <a:solidFill>
                  <a:srgbClr val="3E3E58"/>
                </a:solidFill>
              </a:rPr>
              <a:t>120</a:t>
            </a:r>
          </a:p>
        </p:txBody>
      </p:sp>
      <p:sp>
        <p:nvSpPr>
          <p:cNvPr id="34" name="Rectangle 33"/>
          <p:cNvSpPr/>
          <p:nvPr/>
        </p:nvSpPr>
        <p:spPr>
          <a:xfrm>
            <a:off x="8321040" y="1234440"/>
            <a:ext cx="347472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1325880"/>
            <a:ext cx="3108960" cy="347472"/>
          </a:xfrm>
          <a:prstGeom prst="rect">
            <a:avLst/>
          </a:prstGeom>
          <a:noFill/>
        </p:spPr>
        <p:txBody>
          <a:bodyPr wrap="square">
            <a:spAutoFit/>
          </a:bodyPr>
          <a:lstStyle/>
          <a:p>
            <a:pPr algn="l"/>
            <a:r>
              <a:rPr sz="1500" b="1" i="0">
                <a:solidFill>
                  <a:srgbClr val="00FF88"/>
                </a:solidFill>
              </a:rPr>
              <a:t>Key Insights</a:t>
            </a:r>
          </a:p>
        </p:txBody>
      </p:sp>
      <p:sp>
        <p:nvSpPr>
          <p:cNvPr id="36" name="Rectangle 35"/>
          <p:cNvSpPr/>
          <p:nvPr/>
        </p:nvSpPr>
        <p:spPr>
          <a:xfrm>
            <a:off x="8458200" y="1783080"/>
            <a:ext cx="3200400" cy="960120"/>
          </a:xfrm>
          <a:prstGeom prst="rect">
            <a:avLst/>
          </a:prstGeom>
          <a:solidFill>
            <a:srgbClr val="20202E"/>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95360" y="1856232"/>
            <a:ext cx="2926080" cy="320040"/>
          </a:xfrm>
          <a:prstGeom prst="rect">
            <a:avLst/>
          </a:prstGeom>
          <a:noFill/>
        </p:spPr>
        <p:txBody>
          <a:bodyPr wrap="square">
            <a:spAutoFit/>
          </a:bodyPr>
          <a:lstStyle/>
          <a:p>
            <a:pPr algn="l"/>
            <a:r>
              <a:rPr sz="1200" b="1" i="0">
                <a:solidFill>
                  <a:srgbClr val="00FF88"/>
                </a:solidFill>
              </a:rPr>
              <a:t>MOMPSO-GA Best</a:t>
            </a:r>
          </a:p>
        </p:txBody>
      </p:sp>
      <p:sp>
        <p:nvSpPr>
          <p:cNvPr id="38" name="TextBox 37"/>
          <p:cNvSpPr txBox="1"/>
          <p:nvPr/>
        </p:nvSpPr>
        <p:spPr>
          <a:xfrm>
            <a:off x="8595360" y="2194560"/>
            <a:ext cx="2926080" cy="457200"/>
          </a:xfrm>
          <a:prstGeom prst="rect">
            <a:avLst/>
          </a:prstGeom>
          <a:noFill/>
        </p:spPr>
        <p:txBody>
          <a:bodyPr wrap="square">
            <a:spAutoFit/>
          </a:bodyPr>
          <a:lstStyle/>
          <a:p>
            <a:pPr algn="l"/>
            <a:r>
              <a:rPr sz="1000" b="0" i="0">
                <a:solidFill>
                  <a:srgbClr val="7878A0"/>
                </a:solidFill>
              </a:rPr>
              <a:t>82.87s - 32.8% faster than Greedy</a:t>
            </a:r>
          </a:p>
        </p:txBody>
      </p:sp>
      <p:sp>
        <p:nvSpPr>
          <p:cNvPr id="39" name="Rectangle 38"/>
          <p:cNvSpPr/>
          <p:nvPr/>
        </p:nvSpPr>
        <p:spPr>
          <a:xfrm>
            <a:off x="8458200" y="2898648"/>
            <a:ext cx="3200400" cy="960120"/>
          </a:xfrm>
          <a:prstGeom prst="rect">
            <a:avLst/>
          </a:prstGeom>
          <a:solidFill>
            <a:srgbClr val="20202E"/>
          </a:solidFill>
          <a:ln w="1905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0" y="2971800"/>
            <a:ext cx="2926080" cy="320040"/>
          </a:xfrm>
          <a:prstGeom prst="rect">
            <a:avLst/>
          </a:prstGeom>
          <a:noFill/>
        </p:spPr>
        <p:txBody>
          <a:bodyPr wrap="square">
            <a:spAutoFit/>
          </a:bodyPr>
          <a:lstStyle/>
          <a:p>
            <a:pPr algn="l"/>
            <a:r>
              <a:rPr sz="1200" b="1" i="0">
                <a:solidFill>
                  <a:srgbClr val="AA66FF"/>
                </a:solidFill>
              </a:rPr>
              <a:t>MOMPSO</a:t>
            </a:r>
          </a:p>
        </p:txBody>
      </p:sp>
      <p:sp>
        <p:nvSpPr>
          <p:cNvPr id="41" name="TextBox 40"/>
          <p:cNvSpPr txBox="1"/>
          <p:nvPr/>
        </p:nvSpPr>
        <p:spPr>
          <a:xfrm>
            <a:off x="8595360" y="3310128"/>
            <a:ext cx="2926080" cy="457200"/>
          </a:xfrm>
          <a:prstGeom prst="rect">
            <a:avLst/>
          </a:prstGeom>
          <a:noFill/>
        </p:spPr>
        <p:txBody>
          <a:bodyPr wrap="square">
            <a:spAutoFit/>
          </a:bodyPr>
          <a:lstStyle/>
          <a:p>
            <a:pPr algn="l"/>
            <a:r>
              <a:rPr sz="1000" b="0" i="0">
                <a:solidFill>
                  <a:srgbClr val="7878A0"/>
                </a:solidFill>
              </a:rPr>
              <a:t>85.17s - 31.0% faster than Greedy</a:t>
            </a:r>
          </a:p>
        </p:txBody>
      </p:sp>
      <p:sp>
        <p:nvSpPr>
          <p:cNvPr id="42" name="Rectangle 41"/>
          <p:cNvSpPr/>
          <p:nvPr/>
        </p:nvSpPr>
        <p:spPr>
          <a:xfrm>
            <a:off x="8458200" y="4014216"/>
            <a:ext cx="3200400" cy="960120"/>
          </a:xfrm>
          <a:prstGeom prst="rect">
            <a:avLst/>
          </a:prstGeom>
          <a:solidFill>
            <a:srgbClr val="20202E"/>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95360" y="4087368"/>
            <a:ext cx="2926080" cy="320040"/>
          </a:xfrm>
          <a:prstGeom prst="rect">
            <a:avLst/>
          </a:prstGeom>
          <a:noFill/>
        </p:spPr>
        <p:txBody>
          <a:bodyPr wrap="square">
            <a:spAutoFit/>
          </a:bodyPr>
          <a:lstStyle/>
          <a:p>
            <a:pPr algn="l"/>
            <a:r>
              <a:rPr sz="1200" b="1" i="0">
                <a:solidFill>
                  <a:srgbClr val="4D8FFF"/>
                </a:solidFill>
              </a:rPr>
              <a:t>PSO</a:t>
            </a:r>
          </a:p>
        </p:txBody>
      </p:sp>
      <p:sp>
        <p:nvSpPr>
          <p:cNvPr id="44" name="TextBox 43"/>
          <p:cNvSpPr txBox="1"/>
          <p:nvPr/>
        </p:nvSpPr>
        <p:spPr>
          <a:xfrm>
            <a:off x="8595360" y="4425696"/>
            <a:ext cx="2926080" cy="457200"/>
          </a:xfrm>
          <a:prstGeom prst="rect">
            <a:avLst/>
          </a:prstGeom>
          <a:noFill/>
        </p:spPr>
        <p:txBody>
          <a:bodyPr wrap="square">
            <a:spAutoFit/>
          </a:bodyPr>
          <a:lstStyle/>
          <a:p>
            <a:pPr algn="l"/>
            <a:r>
              <a:rPr sz="1000" b="0" i="0">
                <a:solidFill>
                  <a:srgbClr val="7878A0"/>
                </a:solidFill>
              </a:rPr>
              <a:t>88.42s - 28.3% faster than Greedy</a:t>
            </a:r>
          </a:p>
        </p:txBody>
      </p:sp>
      <p:sp>
        <p:nvSpPr>
          <p:cNvPr id="45" name="Rectangle 44"/>
          <p:cNvSpPr/>
          <p:nvPr/>
        </p:nvSpPr>
        <p:spPr>
          <a:xfrm>
            <a:off x="8458200" y="5129784"/>
            <a:ext cx="3200400" cy="960120"/>
          </a:xfrm>
          <a:prstGeom prst="rect">
            <a:avLst/>
          </a:prstGeom>
          <a:solidFill>
            <a:srgbClr val="20202E"/>
          </a:solidFill>
          <a:ln w="1905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95360" y="5202936"/>
            <a:ext cx="2926080" cy="320040"/>
          </a:xfrm>
          <a:prstGeom prst="rect">
            <a:avLst/>
          </a:prstGeom>
          <a:noFill/>
        </p:spPr>
        <p:txBody>
          <a:bodyPr wrap="square">
            <a:spAutoFit/>
          </a:bodyPr>
          <a:lstStyle/>
          <a:p>
            <a:pPr algn="l"/>
            <a:r>
              <a:rPr sz="1200" b="1" i="0">
                <a:solidFill>
                  <a:srgbClr val="FF4466"/>
                </a:solidFill>
              </a:rPr>
              <a:t>Greedy Slowest</a:t>
            </a:r>
          </a:p>
        </p:txBody>
      </p:sp>
      <p:sp>
        <p:nvSpPr>
          <p:cNvPr id="47" name="TextBox 46"/>
          <p:cNvSpPr txBox="1"/>
          <p:nvPr/>
        </p:nvSpPr>
        <p:spPr>
          <a:xfrm>
            <a:off x="8595360" y="5541264"/>
            <a:ext cx="2926080" cy="457200"/>
          </a:xfrm>
          <a:prstGeom prst="rect">
            <a:avLst/>
          </a:prstGeom>
          <a:noFill/>
        </p:spPr>
        <p:txBody>
          <a:bodyPr wrap="square">
            <a:spAutoFit/>
          </a:bodyPr>
          <a:lstStyle/>
          <a:p>
            <a:pPr algn="l"/>
            <a:r>
              <a:rPr sz="1000" b="0" i="0">
                <a:solidFill>
                  <a:srgbClr val="7878A0"/>
                </a:solidFill>
              </a:rPr>
              <a:t>123.37s - no load balancing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Results: Scalability - Energy</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Energy consumption vs task batch size (MOMPSO)</a:t>
            </a:r>
          </a:p>
        </p:txBody>
      </p:sp>
      <p:sp>
        <p:nvSpPr>
          <p:cNvPr id="6" name="Rectangle 5"/>
          <p:cNvSpPr/>
          <p:nvPr/>
        </p:nvSpPr>
        <p:spPr>
          <a:xfrm>
            <a:off x="365760" y="1234440"/>
            <a:ext cx="777240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406640" cy="347472"/>
          </a:xfrm>
          <a:prstGeom prst="rect">
            <a:avLst/>
          </a:prstGeom>
          <a:noFill/>
        </p:spPr>
        <p:txBody>
          <a:bodyPr wrap="square">
            <a:spAutoFit/>
          </a:bodyPr>
          <a:lstStyle/>
          <a:p>
            <a:pPr algn="l"/>
            <a:r>
              <a:rPr sz="1400" b="1" i="0">
                <a:solidFill>
                  <a:srgbClr val="E8E8F4"/>
                </a:solidFill>
              </a:rPr>
              <a:t>Energy (kJ) vs Task Batch Size</a:t>
            </a:r>
          </a:p>
        </p:txBody>
      </p:sp>
      <p:sp>
        <p:nvSpPr>
          <p:cNvPr id="8" name="TextBox 7"/>
          <p:cNvSpPr txBox="1"/>
          <p:nvPr/>
        </p:nvSpPr>
        <p:spPr>
          <a:xfrm>
            <a:off x="548640" y="1673352"/>
            <a:ext cx="4572000" cy="256032"/>
          </a:xfrm>
          <a:prstGeom prst="rect">
            <a:avLst/>
          </a:prstGeom>
          <a:noFill/>
        </p:spPr>
        <p:txBody>
          <a:bodyPr wrap="square">
            <a:spAutoFit/>
          </a:bodyPr>
          <a:lstStyle/>
          <a:p>
            <a:pPr algn="l"/>
            <a:r>
              <a:rPr sz="1000" b="0" i="1">
                <a:solidFill>
                  <a:srgbClr val="7878A0"/>
                </a:solidFill>
              </a:rPr>
              <a:t>MOMPSO scheduler - linear scaling observed</a:t>
            </a:r>
          </a:p>
        </p:txBody>
      </p:sp>
      <p:sp>
        <p:nvSpPr>
          <p:cNvPr id="9" name="Rectangle 8"/>
          <p:cNvSpPr/>
          <p:nvPr/>
        </p:nvSpPr>
        <p:spPr>
          <a:xfrm>
            <a:off x="1353312" y="5687339"/>
            <a:ext cx="1097280" cy="164820"/>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5394731"/>
            <a:ext cx="1280160" cy="274320"/>
          </a:xfrm>
          <a:prstGeom prst="rect">
            <a:avLst/>
          </a:prstGeom>
          <a:noFill/>
        </p:spPr>
        <p:txBody>
          <a:bodyPr wrap="square">
            <a:spAutoFit/>
          </a:bodyPr>
          <a:lstStyle/>
          <a:p>
            <a:pPr algn="ctr"/>
            <a:r>
              <a:rPr sz="1100" b="1" i="0">
                <a:solidFill>
                  <a:srgbClr val="E8E8F4"/>
                </a:solidFill>
              </a:rPr>
              <a:t>1.03 kJ</a:t>
            </a:r>
          </a:p>
        </p:txBody>
      </p:sp>
      <p:sp>
        <p:nvSpPr>
          <p:cNvPr id="11" name="TextBox 10"/>
          <p:cNvSpPr txBox="1"/>
          <p:nvPr/>
        </p:nvSpPr>
        <p:spPr>
          <a:xfrm>
            <a:off x="1261872" y="5925312"/>
            <a:ext cx="1280160" cy="274320"/>
          </a:xfrm>
          <a:prstGeom prst="rect">
            <a:avLst/>
          </a:prstGeom>
          <a:noFill/>
        </p:spPr>
        <p:txBody>
          <a:bodyPr wrap="square">
            <a:spAutoFit/>
          </a:bodyPr>
          <a:lstStyle/>
          <a:p>
            <a:pPr algn="ctr"/>
            <a:r>
              <a:rPr sz="1100" b="0" i="0">
                <a:solidFill>
                  <a:srgbClr val="7878A0"/>
                </a:solidFill>
              </a:rPr>
              <a:t>100</a:t>
            </a:r>
          </a:p>
        </p:txBody>
      </p:sp>
      <p:sp>
        <p:nvSpPr>
          <p:cNvPr id="12" name="Rectangle 11"/>
          <p:cNvSpPr/>
          <p:nvPr/>
        </p:nvSpPr>
        <p:spPr>
          <a:xfrm>
            <a:off x="2889504" y="5023256"/>
            <a:ext cx="1097280" cy="828903"/>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98064" y="4730648"/>
            <a:ext cx="1280160" cy="274320"/>
          </a:xfrm>
          <a:prstGeom prst="rect">
            <a:avLst/>
          </a:prstGeom>
          <a:noFill/>
        </p:spPr>
        <p:txBody>
          <a:bodyPr wrap="square">
            <a:spAutoFit/>
          </a:bodyPr>
          <a:lstStyle/>
          <a:p>
            <a:pPr algn="ctr"/>
            <a:r>
              <a:rPr sz="1100" b="1" i="0">
                <a:solidFill>
                  <a:srgbClr val="E8E8F4"/>
                </a:solidFill>
              </a:rPr>
              <a:t>5.18 kJ</a:t>
            </a:r>
          </a:p>
        </p:txBody>
      </p:sp>
      <p:sp>
        <p:nvSpPr>
          <p:cNvPr id="14" name="TextBox 13"/>
          <p:cNvSpPr txBox="1"/>
          <p:nvPr/>
        </p:nvSpPr>
        <p:spPr>
          <a:xfrm>
            <a:off x="2798064" y="5925312"/>
            <a:ext cx="1280160" cy="274320"/>
          </a:xfrm>
          <a:prstGeom prst="rect">
            <a:avLst/>
          </a:prstGeom>
          <a:noFill/>
        </p:spPr>
        <p:txBody>
          <a:bodyPr wrap="square">
            <a:spAutoFit/>
          </a:bodyPr>
          <a:lstStyle/>
          <a:p>
            <a:pPr algn="ctr"/>
            <a:r>
              <a:rPr sz="1100" b="0" i="0">
                <a:solidFill>
                  <a:srgbClr val="7878A0"/>
                </a:solidFill>
              </a:rPr>
              <a:t>500</a:t>
            </a:r>
          </a:p>
        </p:txBody>
      </p:sp>
      <p:sp>
        <p:nvSpPr>
          <p:cNvPr id="15" name="Rectangle 14"/>
          <p:cNvSpPr/>
          <p:nvPr/>
        </p:nvSpPr>
        <p:spPr>
          <a:xfrm>
            <a:off x="4425696" y="4191152"/>
            <a:ext cx="1097280" cy="1661007"/>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6" y="3898544"/>
            <a:ext cx="1280160" cy="274320"/>
          </a:xfrm>
          <a:prstGeom prst="rect">
            <a:avLst/>
          </a:prstGeom>
          <a:noFill/>
        </p:spPr>
        <p:txBody>
          <a:bodyPr wrap="square">
            <a:spAutoFit/>
          </a:bodyPr>
          <a:lstStyle/>
          <a:p>
            <a:pPr algn="ctr"/>
            <a:r>
              <a:rPr sz="1100" b="1" i="0">
                <a:solidFill>
                  <a:srgbClr val="E8E8F4"/>
                </a:solidFill>
              </a:rPr>
              <a:t>10.38 kJ</a:t>
            </a:r>
          </a:p>
        </p:txBody>
      </p:sp>
      <p:sp>
        <p:nvSpPr>
          <p:cNvPr id="17" name="TextBox 16"/>
          <p:cNvSpPr txBox="1"/>
          <p:nvPr/>
        </p:nvSpPr>
        <p:spPr>
          <a:xfrm>
            <a:off x="4334256" y="5925312"/>
            <a:ext cx="1280160" cy="274320"/>
          </a:xfrm>
          <a:prstGeom prst="rect">
            <a:avLst/>
          </a:prstGeom>
          <a:noFill/>
        </p:spPr>
        <p:txBody>
          <a:bodyPr wrap="square">
            <a:spAutoFit/>
          </a:bodyPr>
          <a:lstStyle/>
          <a:p>
            <a:pPr algn="ctr"/>
            <a:r>
              <a:rPr sz="1100" b="0" i="0">
                <a:solidFill>
                  <a:srgbClr val="7878A0"/>
                </a:solidFill>
              </a:rPr>
              <a:t>1000</a:t>
            </a:r>
          </a:p>
        </p:txBody>
      </p:sp>
      <p:sp>
        <p:nvSpPr>
          <p:cNvPr id="18" name="Rectangle 17"/>
          <p:cNvSpPr/>
          <p:nvPr/>
        </p:nvSpPr>
        <p:spPr>
          <a:xfrm>
            <a:off x="5961888" y="2530144"/>
            <a:ext cx="1097280" cy="3322015"/>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70448" y="2237536"/>
            <a:ext cx="1280160" cy="274320"/>
          </a:xfrm>
          <a:prstGeom prst="rect">
            <a:avLst/>
          </a:prstGeom>
          <a:noFill/>
        </p:spPr>
        <p:txBody>
          <a:bodyPr wrap="square">
            <a:spAutoFit/>
          </a:bodyPr>
          <a:lstStyle/>
          <a:p>
            <a:pPr algn="ctr"/>
            <a:r>
              <a:rPr sz="1100" b="1" i="0">
                <a:solidFill>
                  <a:srgbClr val="E8E8F4"/>
                </a:solidFill>
              </a:rPr>
              <a:t>20.76 kJ</a:t>
            </a:r>
          </a:p>
        </p:txBody>
      </p:sp>
      <p:sp>
        <p:nvSpPr>
          <p:cNvPr id="20" name="TextBox 19"/>
          <p:cNvSpPr txBox="1"/>
          <p:nvPr/>
        </p:nvSpPr>
        <p:spPr>
          <a:xfrm>
            <a:off x="5870448" y="5925312"/>
            <a:ext cx="1280160" cy="274320"/>
          </a:xfrm>
          <a:prstGeom prst="rect">
            <a:avLst/>
          </a:prstGeom>
          <a:noFill/>
        </p:spPr>
        <p:txBody>
          <a:bodyPr wrap="square">
            <a:spAutoFit/>
          </a:bodyPr>
          <a:lstStyle/>
          <a:p>
            <a:pPr algn="ctr"/>
            <a:r>
              <a:rPr sz="1100" b="0" i="0">
                <a:solidFill>
                  <a:srgbClr val="7878A0"/>
                </a:solidFill>
              </a:rPr>
              <a:t>2000</a:t>
            </a:r>
          </a:p>
        </p:txBody>
      </p:sp>
      <p:sp>
        <p:nvSpPr>
          <p:cNvPr id="21" name="TextBox 20"/>
          <p:cNvSpPr txBox="1"/>
          <p:nvPr/>
        </p:nvSpPr>
        <p:spPr>
          <a:xfrm>
            <a:off x="384048" y="3200400"/>
            <a:ext cx="457200" cy="1828800"/>
          </a:xfrm>
          <a:prstGeom prst="rect">
            <a:avLst/>
          </a:prstGeom>
          <a:noFill/>
        </p:spPr>
        <p:txBody>
          <a:bodyPr wrap="square">
            <a:spAutoFit/>
          </a:bodyPr>
          <a:lstStyle/>
          <a:p>
            <a:pPr algn="l"/>
            <a:r>
              <a:rPr sz="1000" b="0" i="0">
                <a:solidFill>
                  <a:srgbClr val="3E3E58"/>
                </a:solidFill>
              </a:rPr>
              <a:t>Energy (kJ)</a:t>
            </a:r>
          </a:p>
        </p:txBody>
      </p:sp>
      <p:sp>
        <p:nvSpPr>
          <p:cNvPr id="22" name="TextBox 21"/>
          <p:cNvSpPr txBox="1"/>
          <p:nvPr/>
        </p:nvSpPr>
        <p:spPr>
          <a:xfrm>
            <a:off x="3200400" y="6236208"/>
            <a:ext cx="2743200" cy="274320"/>
          </a:xfrm>
          <a:prstGeom prst="rect">
            <a:avLst/>
          </a:prstGeom>
          <a:noFill/>
        </p:spPr>
        <p:txBody>
          <a:bodyPr wrap="square">
            <a:spAutoFit/>
          </a:bodyPr>
          <a:lstStyle/>
          <a:p>
            <a:pPr algn="ctr"/>
            <a:r>
              <a:rPr sz="1000" b="0" i="0">
                <a:solidFill>
                  <a:srgbClr val="3E3E58"/>
                </a:solidFill>
              </a:rPr>
              <a:t>Task Batch Size</a:t>
            </a:r>
          </a:p>
        </p:txBody>
      </p:sp>
      <p:sp>
        <p:nvSpPr>
          <p:cNvPr id="23" name="Rectangle 22"/>
          <p:cNvSpPr/>
          <p:nvPr/>
        </p:nvSpPr>
        <p:spPr>
          <a:xfrm>
            <a:off x="914400" y="50520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942332"/>
            <a:ext cx="365760" cy="228600"/>
          </a:xfrm>
          <a:prstGeom prst="rect">
            <a:avLst/>
          </a:prstGeom>
          <a:noFill/>
        </p:spPr>
        <p:txBody>
          <a:bodyPr wrap="square">
            <a:spAutoFit/>
          </a:bodyPr>
          <a:lstStyle/>
          <a:p>
            <a:pPr algn="r"/>
            <a:r>
              <a:rPr sz="800" b="0" i="0">
                <a:solidFill>
                  <a:srgbClr val="3E3E58"/>
                </a:solidFill>
              </a:rPr>
              <a:t>5</a:t>
            </a:r>
          </a:p>
        </p:txBody>
      </p:sp>
      <p:sp>
        <p:nvSpPr>
          <p:cNvPr id="25" name="Rectangle 24"/>
          <p:cNvSpPr/>
          <p:nvPr/>
        </p:nvSpPr>
        <p:spPr>
          <a:xfrm>
            <a:off x="914400" y="42519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4142232"/>
            <a:ext cx="365760" cy="228600"/>
          </a:xfrm>
          <a:prstGeom prst="rect">
            <a:avLst/>
          </a:prstGeom>
          <a:noFill/>
        </p:spPr>
        <p:txBody>
          <a:bodyPr wrap="square">
            <a:spAutoFit/>
          </a:bodyPr>
          <a:lstStyle/>
          <a:p>
            <a:pPr algn="r"/>
            <a:r>
              <a:rPr sz="800" b="0" i="0">
                <a:solidFill>
                  <a:srgbClr val="3E3E58"/>
                </a:solidFill>
              </a:rPr>
              <a:t>10</a:t>
            </a:r>
          </a:p>
        </p:txBody>
      </p:sp>
      <p:sp>
        <p:nvSpPr>
          <p:cNvPr id="27" name="Rectangle 26"/>
          <p:cNvSpPr/>
          <p:nvPr/>
        </p:nvSpPr>
        <p:spPr>
          <a:xfrm>
            <a:off x="914400" y="34518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342132"/>
            <a:ext cx="365760" cy="228600"/>
          </a:xfrm>
          <a:prstGeom prst="rect">
            <a:avLst/>
          </a:prstGeom>
          <a:noFill/>
        </p:spPr>
        <p:txBody>
          <a:bodyPr wrap="square">
            <a:spAutoFit/>
          </a:bodyPr>
          <a:lstStyle/>
          <a:p>
            <a:pPr algn="r"/>
            <a:r>
              <a:rPr sz="800" b="0" i="0">
                <a:solidFill>
                  <a:srgbClr val="3E3E58"/>
                </a:solidFill>
              </a:rPr>
              <a:t>15</a:t>
            </a:r>
          </a:p>
        </p:txBody>
      </p:sp>
      <p:sp>
        <p:nvSpPr>
          <p:cNvPr id="29" name="Rectangle 28"/>
          <p:cNvSpPr/>
          <p:nvPr/>
        </p:nvSpPr>
        <p:spPr>
          <a:xfrm>
            <a:off x="914400" y="265176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2542032"/>
            <a:ext cx="365760" cy="228600"/>
          </a:xfrm>
          <a:prstGeom prst="rect">
            <a:avLst/>
          </a:prstGeom>
          <a:noFill/>
        </p:spPr>
        <p:txBody>
          <a:bodyPr wrap="square">
            <a:spAutoFit/>
          </a:bodyPr>
          <a:lstStyle/>
          <a:p>
            <a:pPr algn="r"/>
            <a:r>
              <a:rPr sz="800" b="0" i="0">
                <a:solidFill>
                  <a:srgbClr val="3E3E58"/>
                </a:solidFill>
              </a:rPr>
              <a:t>20</a:t>
            </a:r>
          </a:p>
        </p:txBody>
      </p:sp>
      <p:sp>
        <p:nvSpPr>
          <p:cNvPr id="31" name="Rectangle 30"/>
          <p:cNvSpPr/>
          <p:nvPr/>
        </p:nvSpPr>
        <p:spPr>
          <a:xfrm>
            <a:off x="8321040" y="1234440"/>
            <a:ext cx="347472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20" y="1325880"/>
            <a:ext cx="3108960" cy="347472"/>
          </a:xfrm>
          <a:prstGeom prst="rect">
            <a:avLst/>
          </a:prstGeom>
          <a:noFill/>
        </p:spPr>
        <p:txBody>
          <a:bodyPr wrap="square">
            <a:spAutoFit/>
          </a:bodyPr>
          <a:lstStyle/>
          <a:p>
            <a:pPr algn="l"/>
            <a:r>
              <a:rPr sz="1500" b="1" i="0">
                <a:solidFill>
                  <a:srgbClr val="00FF88"/>
                </a:solidFill>
              </a:rPr>
              <a:t>Scalability Analysis</a:t>
            </a:r>
          </a:p>
        </p:txBody>
      </p:sp>
      <p:sp>
        <p:nvSpPr>
          <p:cNvPr id="33" name="Rectangle 32"/>
          <p:cNvSpPr/>
          <p:nvPr/>
        </p:nvSpPr>
        <p:spPr>
          <a:xfrm>
            <a:off x="8458200" y="1783080"/>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0" y="1837944"/>
            <a:ext cx="2926080" cy="347472"/>
          </a:xfrm>
          <a:prstGeom prst="rect">
            <a:avLst/>
          </a:prstGeom>
          <a:noFill/>
        </p:spPr>
        <p:txBody>
          <a:bodyPr wrap="square">
            <a:spAutoFit/>
          </a:bodyPr>
          <a:lstStyle/>
          <a:p>
            <a:pPr algn="l"/>
            <a:r>
              <a:rPr sz="1000" b="0" i="0">
                <a:solidFill>
                  <a:srgbClr val="E8E8F4"/>
                </a:solidFill>
              </a:rPr>
              <a:t>Energy scales linearly with batch size</a:t>
            </a:r>
          </a:p>
        </p:txBody>
      </p:sp>
      <p:sp>
        <p:nvSpPr>
          <p:cNvPr id="35" name="Rectangle 34"/>
          <p:cNvSpPr/>
          <p:nvPr/>
        </p:nvSpPr>
        <p:spPr>
          <a:xfrm>
            <a:off x="8458200" y="2313432"/>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2368296"/>
            <a:ext cx="2926080" cy="347472"/>
          </a:xfrm>
          <a:prstGeom prst="rect">
            <a:avLst/>
          </a:prstGeom>
          <a:noFill/>
        </p:spPr>
        <p:txBody>
          <a:bodyPr wrap="square">
            <a:spAutoFit/>
          </a:bodyPr>
          <a:lstStyle/>
          <a:p>
            <a:pPr algn="l"/>
            <a:r>
              <a:rPr sz="1000" b="0" i="0">
                <a:solidFill>
                  <a:srgbClr val="E8E8F4"/>
                </a:solidFill>
              </a:rPr>
              <a:t>100 tasks: 1.03 kJ (baseline)</a:t>
            </a:r>
          </a:p>
        </p:txBody>
      </p:sp>
      <p:sp>
        <p:nvSpPr>
          <p:cNvPr id="37" name="Rectangle 36"/>
          <p:cNvSpPr/>
          <p:nvPr/>
        </p:nvSpPr>
        <p:spPr>
          <a:xfrm>
            <a:off x="8458200" y="2843784"/>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0" y="2898648"/>
            <a:ext cx="2926080" cy="347472"/>
          </a:xfrm>
          <a:prstGeom prst="rect">
            <a:avLst/>
          </a:prstGeom>
          <a:noFill/>
        </p:spPr>
        <p:txBody>
          <a:bodyPr wrap="square">
            <a:spAutoFit/>
          </a:bodyPr>
          <a:lstStyle/>
          <a:p>
            <a:pPr algn="l"/>
            <a:r>
              <a:rPr sz="1000" b="0" i="0">
                <a:solidFill>
                  <a:srgbClr val="E8E8F4"/>
                </a:solidFill>
              </a:rPr>
              <a:t>500 tasks: 5.18 kJ (5x tasks = 5x energy)</a:t>
            </a:r>
          </a:p>
        </p:txBody>
      </p:sp>
      <p:sp>
        <p:nvSpPr>
          <p:cNvPr id="39" name="Rectangle 38"/>
          <p:cNvSpPr/>
          <p:nvPr/>
        </p:nvSpPr>
        <p:spPr>
          <a:xfrm>
            <a:off x="8458200" y="3374135"/>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0" y="3428999"/>
            <a:ext cx="2926080" cy="347472"/>
          </a:xfrm>
          <a:prstGeom prst="rect">
            <a:avLst/>
          </a:prstGeom>
          <a:noFill/>
        </p:spPr>
        <p:txBody>
          <a:bodyPr wrap="square">
            <a:spAutoFit/>
          </a:bodyPr>
          <a:lstStyle/>
          <a:p>
            <a:pPr algn="l"/>
            <a:r>
              <a:rPr sz="1000" b="0" i="0">
                <a:solidFill>
                  <a:srgbClr val="E8E8F4"/>
                </a:solidFill>
              </a:rPr>
              <a:t>1000 tasks: 10.38 kJ (10x tasks = 10x energy)</a:t>
            </a:r>
          </a:p>
        </p:txBody>
      </p:sp>
      <p:sp>
        <p:nvSpPr>
          <p:cNvPr id="41" name="Rectangle 40"/>
          <p:cNvSpPr/>
          <p:nvPr/>
        </p:nvSpPr>
        <p:spPr>
          <a:xfrm>
            <a:off x="8458200" y="3904488"/>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95360" y="3959352"/>
            <a:ext cx="2926080" cy="347472"/>
          </a:xfrm>
          <a:prstGeom prst="rect">
            <a:avLst/>
          </a:prstGeom>
          <a:noFill/>
        </p:spPr>
        <p:txBody>
          <a:bodyPr wrap="square">
            <a:spAutoFit/>
          </a:bodyPr>
          <a:lstStyle/>
          <a:p>
            <a:pPr algn="l"/>
            <a:r>
              <a:rPr sz="1000" b="0" i="0">
                <a:solidFill>
                  <a:srgbClr val="E8E8F4"/>
                </a:solidFill>
              </a:rPr>
              <a:t>2000 tasks: 20.76 kJ (20x tasks = 20x energy)</a:t>
            </a:r>
          </a:p>
        </p:txBody>
      </p:sp>
      <p:sp>
        <p:nvSpPr>
          <p:cNvPr id="43" name="Rectangle 42"/>
          <p:cNvSpPr/>
          <p:nvPr/>
        </p:nvSpPr>
        <p:spPr>
          <a:xfrm>
            <a:off x="8458200" y="4434840"/>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0" y="4489704"/>
            <a:ext cx="2926080" cy="347472"/>
          </a:xfrm>
          <a:prstGeom prst="rect">
            <a:avLst/>
          </a:prstGeom>
          <a:noFill/>
        </p:spPr>
        <p:txBody>
          <a:bodyPr wrap="square">
            <a:spAutoFit/>
          </a:bodyPr>
          <a:lstStyle/>
          <a:p>
            <a:pPr algn="l"/>
            <a:r>
              <a:rPr sz="1000" b="0" i="0">
                <a:solidFill>
                  <a:srgbClr val="E8E8F4"/>
                </a:solidFill>
              </a:rPr>
              <a:t>Consistent ~0.0103 kJ per task</a:t>
            </a:r>
          </a:p>
        </p:txBody>
      </p:sp>
      <p:sp>
        <p:nvSpPr>
          <p:cNvPr id="45" name="Rectangle 44"/>
          <p:cNvSpPr/>
          <p:nvPr/>
        </p:nvSpPr>
        <p:spPr>
          <a:xfrm>
            <a:off x="8458200" y="4965191"/>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95360" y="5020055"/>
            <a:ext cx="2926080" cy="347472"/>
          </a:xfrm>
          <a:prstGeom prst="rect">
            <a:avLst/>
          </a:prstGeom>
          <a:noFill/>
        </p:spPr>
        <p:txBody>
          <a:bodyPr wrap="square">
            <a:spAutoFit/>
          </a:bodyPr>
          <a:lstStyle/>
          <a:p>
            <a:pPr algn="l"/>
            <a:r>
              <a:rPr sz="1000" b="0" i="0">
                <a:solidFill>
                  <a:srgbClr val="E8E8F4"/>
                </a:solidFill>
              </a:rPr>
              <a:t>No overhead penalty at scale</a:t>
            </a:r>
          </a:p>
        </p:txBody>
      </p:sp>
      <p:sp>
        <p:nvSpPr>
          <p:cNvPr id="47" name="Rectangle 46"/>
          <p:cNvSpPr/>
          <p:nvPr/>
        </p:nvSpPr>
        <p:spPr>
          <a:xfrm>
            <a:off x="8458200" y="5495543"/>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95360" y="5550407"/>
            <a:ext cx="2926080" cy="347472"/>
          </a:xfrm>
          <a:prstGeom prst="rect">
            <a:avLst/>
          </a:prstGeom>
          <a:noFill/>
        </p:spPr>
        <p:txBody>
          <a:bodyPr wrap="square">
            <a:spAutoFit/>
          </a:bodyPr>
          <a:lstStyle/>
          <a:p>
            <a:pPr algn="l"/>
            <a:r>
              <a:rPr sz="1000" b="0" i="0">
                <a:solidFill>
                  <a:srgbClr val="E8E8F4"/>
                </a:solidFill>
              </a:rPr>
              <a:t>Predictable resource planning possible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Results: Scalability - Completion Time</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Completion time vs task batch size</a:t>
            </a:r>
          </a:p>
        </p:txBody>
      </p:sp>
      <p:sp>
        <p:nvSpPr>
          <p:cNvPr id="6" name="Rectangle 5"/>
          <p:cNvSpPr/>
          <p:nvPr/>
        </p:nvSpPr>
        <p:spPr>
          <a:xfrm>
            <a:off x="365760" y="1234440"/>
            <a:ext cx="777240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406640" cy="347472"/>
          </a:xfrm>
          <a:prstGeom prst="rect">
            <a:avLst/>
          </a:prstGeom>
          <a:noFill/>
        </p:spPr>
        <p:txBody>
          <a:bodyPr wrap="square">
            <a:spAutoFit/>
          </a:bodyPr>
          <a:lstStyle/>
          <a:p>
            <a:pPr algn="l"/>
            <a:r>
              <a:rPr sz="1400" b="1" i="0">
                <a:solidFill>
                  <a:srgbClr val="E8E8F4"/>
                </a:solidFill>
              </a:rPr>
              <a:t>Completion Time (s) vs Task Batch Size</a:t>
            </a:r>
          </a:p>
        </p:txBody>
      </p:sp>
      <p:sp>
        <p:nvSpPr>
          <p:cNvPr id="8" name="TextBox 7"/>
          <p:cNvSpPr txBox="1"/>
          <p:nvPr/>
        </p:nvSpPr>
        <p:spPr>
          <a:xfrm>
            <a:off x="548640" y="1673352"/>
            <a:ext cx="4572000" cy="256032"/>
          </a:xfrm>
          <a:prstGeom prst="rect">
            <a:avLst/>
          </a:prstGeom>
          <a:noFill/>
        </p:spPr>
        <p:txBody>
          <a:bodyPr wrap="square">
            <a:spAutoFit/>
          </a:bodyPr>
          <a:lstStyle/>
          <a:p>
            <a:pPr algn="l"/>
            <a:r>
              <a:rPr sz="1000" b="0" i="1">
                <a:solidFill>
                  <a:srgbClr val="7878A0"/>
                </a:solidFill>
              </a:rPr>
              <a:t>MOMPSO scheduler - near-linear scaling</a:t>
            </a:r>
          </a:p>
        </p:txBody>
      </p:sp>
      <p:sp>
        <p:nvSpPr>
          <p:cNvPr id="9" name="Rectangle 8"/>
          <p:cNvSpPr/>
          <p:nvPr/>
        </p:nvSpPr>
        <p:spPr>
          <a:xfrm>
            <a:off x="1353312" y="5676522"/>
            <a:ext cx="1097280" cy="175637"/>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5383914"/>
            <a:ext cx="1280160" cy="274320"/>
          </a:xfrm>
          <a:prstGeom prst="rect">
            <a:avLst/>
          </a:prstGeom>
          <a:noFill/>
        </p:spPr>
        <p:txBody>
          <a:bodyPr wrap="square">
            <a:spAutoFit/>
          </a:bodyPr>
          <a:lstStyle/>
          <a:p>
            <a:pPr algn="ctr"/>
            <a:r>
              <a:rPr sz="1100" b="1" i="0">
                <a:solidFill>
                  <a:srgbClr val="E8E8F4"/>
                </a:solidFill>
              </a:rPr>
              <a:t>41.16s</a:t>
            </a:r>
          </a:p>
        </p:txBody>
      </p:sp>
      <p:sp>
        <p:nvSpPr>
          <p:cNvPr id="11" name="TextBox 10"/>
          <p:cNvSpPr txBox="1"/>
          <p:nvPr/>
        </p:nvSpPr>
        <p:spPr>
          <a:xfrm>
            <a:off x="1261872" y="5925312"/>
            <a:ext cx="1280160" cy="274320"/>
          </a:xfrm>
          <a:prstGeom prst="rect">
            <a:avLst/>
          </a:prstGeom>
          <a:noFill/>
        </p:spPr>
        <p:txBody>
          <a:bodyPr wrap="square">
            <a:spAutoFit/>
          </a:bodyPr>
          <a:lstStyle/>
          <a:p>
            <a:pPr algn="ctr"/>
            <a:r>
              <a:rPr sz="1100" b="0" i="0">
                <a:solidFill>
                  <a:srgbClr val="7878A0"/>
                </a:solidFill>
              </a:rPr>
              <a:t>100</a:t>
            </a:r>
          </a:p>
        </p:txBody>
      </p:sp>
      <p:sp>
        <p:nvSpPr>
          <p:cNvPr id="12" name="Rectangle 11"/>
          <p:cNvSpPr/>
          <p:nvPr/>
        </p:nvSpPr>
        <p:spPr>
          <a:xfrm>
            <a:off x="2889504" y="4880433"/>
            <a:ext cx="1097280" cy="971726"/>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98064" y="4587825"/>
            <a:ext cx="1280160" cy="274320"/>
          </a:xfrm>
          <a:prstGeom prst="rect">
            <a:avLst/>
          </a:prstGeom>
          <a:noFill/>
        </p:spPr>
        <p:txBody>
          <a:bodyPr wrap="square">
            <a:spAutoFit/>
          </a:bodyPr>
          <a:lstStyle/>
          <a:p>
            <a:pPr algn="ctr"/>
            <a:r>
              <a:rPr sz="1100" b="1" i="0">
                <a:solidFill>
                  <a:srgbClr val="E8E8F4"/>
                </a:solidFill>
              </a:rPr>
              <a:t>227.72s</a:t>
            </a:r>
          </a:p>
        </p:txBody>
      </p:sp>
      <p:sp>
        <p:nvSpPr>
          <p:cNvPr id="14" name="TextBox 13"/>
          <p:cNvSpPr txBox="1"/>
          <p:nvPr/>
        </p:nvSpPr>
        <p:spPr>
          <a:xfrm>
            <a:off x="2798064" y="5925312"/>
            <a:ext cx="1280160" cy="274320"/>
          </a:xfrm>
          <a:prstGeom prst="rect">
            <a:avLst/>
          </a:prstGeom>
          <a:noFill/>
        </p:spPr>
        <p:txBody>
          <a:bodyPr wrap="square">
            <a:spAutoFit/>
          </a:bodyPr>
          <a:lstStyle/>
          <a:p>
            <a:pPr algn="ctr"/>
            <a:r>
              <a:rPr sz="1100" b="0" i="0">
                <a:solidFill>
                  <a:srgbClr val="7878A0"/>
                </a:solidFill>
              </a:rPr>
              <a:t>500</a:t>
            </a:r>
          </a:p>
        </p:txBody>
      </p:sp>
      <p:sp>
        <p:nvSpPr>
          <p:cNvPr id="15" name="Rectangle 14"/>
          <p:cNvSpPr/>
          <p:nvPr/>
        </p:nvSpPr>
        <p:spPr>
          <a:xfrm>
            <a:off x="4425696" y="4016922"/>
            <a:ext cx="1097280" cy="1835237"/>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6" y="3724314"/>
            <a:ext cx="1280160" cy="274320"/>
          </a:xfrm>
          <a:prstGeom prst="rect">
            <a:avLst/>
          </a:prstGeom>
          <a:noFill/>
        </p:spPr>
        <p:txBody>
          <a:bodyPr wrap="square">
            <a:spAutoFit/>
          </a:bodyPr>
          <a:lstStyle/>
          <a:p>
            <a:pPr algn="ctr"/>
            <a:r>
              <a:rPr sz="1100" b="1" i="0">
                <a:solidFill>
                  <a:srgbClr val="E8E8F4"/>
                </a:solidFill>
              </a:rPr>
              <a:t>430.08s</a:t>
            </a:r>
          </a:p>
        </p:txBody>
      </p:sp>
      <p:sp>
        <p:nvSpPr>
          <p:cNvPr id="17" name="TextBox 16"/>
          <p:cNvSpPr txBox="1"/>
          <p:nvPr/>
        </p:nvSpPr>
        <p:spPr>
          <a:xfrm>
            <a:off x="4334256" y="5925312"/>
            <a:ext cx="1280160" cy="274320"/>
          </a:xfrm>
          <a:prstGeom prst="rect">
            <a:avLst/>
          </a:prstGeom>
          <a:noFill/>
        </p:spPr>
        <p:txBody>
          <a:bodyPr wrap="square">
            <a:spAutoFit/>
          </a:bodyPr>
          <a:lstStyle/>
          <a:p>
            <a:pPr algn="ctr"/>
            <a:r>
              <a:rPr sz="1100" b="0" i="0">
                <a:solidFill>
                  <a:srgbClr val="7878A0"/>
                </a:solidFill>
              </a:rPr>
              <a:t>1000</a:t>
            </a:r>
          </a:p>
        </p:txBody>
      </p:sp>
      <p:sp>
        <p:nvSpPr>
          <p:cNvPr id="18" name="Rectangle 17"/>
          <p:cNvSpPr/>
          <p:nvPr/>
        </p:nvSpPr>
        <p:spPr>
          <a:xfrm>
            <a:off x="5961888" y="2351434"/>
            <a:ext cx="1097280" cy="3500725"/>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70448" y="2058826"/>
            <a:ext cx="1280160" cy="274320"/>
          </a:xfrm>
          <a:prstGeom prst="rect">
            <a:avLst/>
          </a:prstGeom>
          <a:noFill/>
        </p:spPr>
        <p:txBody>
          <a:bodyPr wrap="square">
            <a:spAutoFit/>
          </a:bodyPr>
          <a:lstStyle/>
          <a:p>
            <a:pPr algn="ctr"/>
            <a:r>
              <a:rPr sz="1100" b="1" i="0">
                <a:solidFill>
                  <a:srgbClr val="E8E8F4"/>
                </a:solidFill>
              </a:rPr>
              <a:t>820.38s</a:t>
            </a:r>
          </a:p>
        </p:txBody>
      </p:sp>
      <p:sp>
        <p:nvSpPr>
          <p:cNvPr id="20" name="TextBox 19"/>
          <p:cNvSpPr txBox="1"/>
          <p:nvPr/>
        </p:nvSpPr>
        <p:spPr>
          <a:xfrm>
            <a:off x="5870448" y="5925312"/>
            <a:ext cx="1280160" cy="274320"/>
          </a:xfrm>
          <a:prstGeom prst="rect">
            <a:avLst/>
          </a:prstGeom>
          <a:noFill/>
        </p:spPr>
        <p:txBody>
          <a:bodyPr wrap="square">
            <a:spAutoFit/>
          </a:bodyPr>
          <a:lstStyle/>
          <a:p>
            <a:pPr algn="ctr"/>
            <a:r>
              <a:rPr sz="1100" b="0" i="0">
                <a:solidFill>
                  <a:srgbClr val="7878A0"/>
                </a:solidFill>
              </a:rPr>
              <a:t>2000</a:t>
            </a:r>
          </a:p>
        </p:txBody>
      </p:sp>
      <p:sp>
        <p:nvSpPr>
          <p:cNvPr id="21" name="TextBox 20"/>
          <p:cNvSpPr txBox="1"/>
          <p:nvPr/>
        </p:nvSpPr>
        <p:spPr>
          <a:xfrm>
            <a:off x="384048" y="3200400"/>
            <a:ext cx="457200" cy="1828800"/>
          </a:xfrm>
          <a:prstGeom prst="rect">
            <a:avLst/>
          </a:prstGeom>
          <a:noFill/>
        </p:spPr>
        <p:txBody>
          <a:bodyPr wrap="square">
            <a:spAutoFit/>
          </a:bodyPr>
          <a:lstStyle/>
          <a:p>
            <a:pPr algn="l"/>
            <a:r>
              <a:rPr sz="1000" b="0" i="0">
                <a:solidFill>
                  <a:srgbClr val="3E3E58"/>
                </a:solidFill>
              </a:rPr>
              <a:t>Time (s)</a:t>
            </a:r>
          </a:p>
        </p:txBody>
      </p:sp>
      <p:sp>
        <p:nvSpPr>
          <p:cNvPr id="22" name="TextBox 21"/>
          <p:cNvSpPr txBox="1"/>
          <p:nvPr/>
        </p:nvSpPr>
        <p:spPr>
          <a:xfrm>
            <a:off x="3200400" y="6236208"/>
            <a:ext cx="2743200" cy="274320"/>
          </a:xfrm>
          <a:prstGeom prst="rect">
            <a:avLst/>
          </a:prstGeom>
          <a:noFill/>
        </p:spPr>
        <p:txBody>
          <a:bodyPr wrap="square">
            <a:spAutoFit/>
          </a:bodyPr>
          <a:lstStyle/>
          <a:p>
            <a:pPr algn="ctr"/>
            <a:r>
              <a:rPr sz="1000" b="0" i="0">
                <a:solidFill>
                  <a:srgbClr val="3E3E58"/>
                </a:solidFill>
              </a:rPr>
              <a:t>Task Batch Size</a:t>
            </a:r>
          </a:p>
        </p:txBody>
      </p:sp>
      <p:sp>
        <p:nvSpPr>
          <p:cNvPr id="23" name="Rectangle 22"/>
          <p:cNvSpPr/>
          <p:nvPr/>
        </p:nvSpPr>
        <p:spPr>
          <a:xfrm>
            <a:off x="914400" y="499872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888992"/>
            <a:ext cx="411480" cy="228600"/>
          </a:xfrm>
          <a:prstGeom prst="rect">
            <a:avLst/>
          </a:prstGeom>
          <a:noFill/>
        </p:spPr>
        <p:txBody>
          <a:bodyPr wrap="square">
            <a:spAutoFit/>
          </a:bodyPr>
          <a:lstStyle/>
          <a:p>
            <a:pPr algn="r"/>
            <a:r>
              <a:rPr sz="800" b="0" i="0">
                <a:solidFill>
                  <a:srgbClr val="3E3E58"/>
                </a:solidFill>
              </a:rPr>
              <a:t>200</a:t>
            </a:r>
          </a:p>
        </p:txBody>
      </p:sp>
      <p:sp>
        <p:nvSpPr>
          <p:cNvPr id="25" name="Rectangle 24"/>
          <p:cNvSpPr/>
          <p:nvPr/>
        </p:nvSpPr>
        <p:spPr>
          <a:xfrm>
            <a:off x="914400" y="414528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035552"/>
            <a:ext cx="411480" cy="228600"/>
          </a:xfrm>
          <a:prstGeom prst="rect">
            <a:avLst/>
          </a:prstGeom>
          <a:noFill/>
        </p:spPr>
        <p:txBody>
          <a:bodyPr wrap="square">
            <a:spAutoFit/>
          </a:bodyPr>
          <a:lstStyle/>
          <a:p>
            <a:pPr algn="r"/>
            <a:r>
              <a:rPr sz="800" b="0" i="0">
                <a:solidFill>
                  <a:srgbClr val="3E3E58"/>
                </a:solidFill>
              </a:rPr>
              <a:t>400</a:t>
            </a:r>
          </a:p>
        </p:txBody>
      </p:sp>
      <p:sp>
        <p:nvSpPr>
          <p:cNvPr id="27" name="Rectangle 26"/>
          <p:cNvSpPr/>
          <p:nvPr/>
        </p:nvSpPr>
        <p:spPr>
          <a:xfrm>
            <a:off x="914400" y="329184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182112"/>
            <a:ext cx="411480" cy="228600"/>
          </a:xfrm>
          <a:prstGeom prst="rect">
            <a:avLst/>
          </a:prstGeom>
          <a:noFill/>
        </p:spPr>
        <p:txBody>
          <a:bodyPr wrap="square">
            <a:spAutoFit/>
          </a:bodyPr>
          <a:lstStyle/>
          <a:p>
            <a:pPr algn="r"/>
            <a:r>
              <a:rPr sz="800" b="0" i="0">
                <a:solidFill>
                  <a:srgbClr val="3E3E58"/>
                </a:solidFill>
              </a:rPr>
              <a:t>600</a:t>
            </a:r>
          </a:p>
        </p:txBody>
      </p:sp>
      <p:sp>
        <p:nvSpPr>
          <p:cNvPr id="29" name="Rectangle 28"/>
          <p:cNvSpPr/>
          <p:nvPr/>
        </p:nvSpPr>
        <p:spPr>
          <a:xfrm>
            <a:off x="914400" y="2438400"/>
            <a:ext cx="6583680" cy="9144"/>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2328672"/>
            <a:ext cx="411480" cy="228600"/>
          </a:xfrm>
          <a:prstGeom prst="rect">
            <a:avLst/>
          </a:prstGeom>
          <a:noFill/>
        </p:spPr>
        <p:txBody>
          <a:bodyPr wrap="square">
            <a:spAutoFit/>
          </a:bodyPr>
          <a:lstStyle/>
          <a:p>
            <a:pPr algn="r"/>
            <a:r>
              <a:rPr sz="800" b="0" i="0">
                <a:solidFill>
                  <a:srgbClr val="3E3E58"/>
                </a:solidFill>
              </a:rPr>
              <a:t>800</a:t>
            </a:r>
          </a:p>
        </p:txBody>
      </p:sp>
      <p:sp>
        <p:nvSpPr>
          <p:cNvPr id="31" name="Rectangle 30"/>
          <p:cNvSpPr/>
          <p:nvPr/>
        </p:nvSpPr>
        <p:spPr>
          <a:xfrm>
            <a:off x="8321040" y="1234440"/>
            <a:ext cx="3474720" cy="521208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20" y="1325880"/>
            <a:ext cx="3108960" cy="347472"/>
          </a:xfrm>
          <a:prstGeom prst="rect">
            <a:avLst/>
          </a:prstGeom>
          <a:noFill/>
        </p:spPr>
        <p:txBody>
          <a:bodyPr wrap="square">
            <a:spAutoFit/>
          </a:bodyPr>
          <a:lstStyle/>
          <a:p>
            <a:pPr algn="l"/>
            <a:r>
              <a:rPr sz="1500" b="1" i="0">
                <a:solidFill>
                  <a:srgbClr val="00FF88"/>
                </a:solidFill>
              </a:rPr>
              <a:t>Scalability Analysis</a:t>
            </a:r>
          </a:p>
        </p:txBody>
      </p:sp>
      <p:sp>
        <p:nvSpPr>
          <p:cNvPr id="33" name="Rectangle 32"/>
          <p:cNvSpPr/>
          <p:nvPr/>
        </p:nvSpPr>
        <p:spPr>
          <a:xfrm>
            <a:off x="8458200" y="1783080"/>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0" y="1837944"/>
            <a:ext cx="2926080" cy="347472"/>
          </a:xfrm>
          <a:prstGeom prst="rect">
            <a:avLst/>
          </a:prstGeom>
          <a:noFill/>
        </p:spPr>
        <p:txBody>
          <a:bodyPr wrap="square">
            <a:spAutoFit/>
          </a:bodyPr>
          <a:lstStyle/>
          <a:p>
            <a:pPr algn="l"/>
            <a:r>
              <a:rPr sz="1000" b="0" i="0">
                <a:solidFill>
                  <a:srgbClr val="E8E8F4"/>
                </a:solidFill>
              </a:rPr>
              <a:t>Near-linear time scaling with batch size</a:t>
            </a:r>
          </a:p>
        </p:txBody>
      </p:sp>
      <p:sp>
        <p:nvSpPr>
          <p:cNvPr id="35" name="Rectangle 34"/>
          <p:cNvSpPr/>
          <p:nvPr/>
        </p:nvSpPr>
        <p:spPr>
          <a:xfrm>
            <a:off x="8458200" y="2313432"/>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2368296"/>
            <a:ext cx="2926080" cy="347472"/>
          </a:xfrm>
          <a:prstGeom prst="rect">
            <a:avLst/>
          </a:prstGeom>
          <a:noFill/>
        </p:spPr>
        <p:txBody>
          <a:bodyPr wrap="square">
            <a:spAutoFit/>
          </a:bodyPr>
          <a:lstStyle/>
          <a:p>
            <a:pPr algn="l"/>
            <a:r>
              <a:rPr sz="1000" b="0" i="0">
                <a:solidFill>
                  <a:srgbClr val="E8E8F4"/>
                </a:solidFill>
              </a:rPr>
              <a:t>100 tasks: 41.16s (baseline)</a:t>
            </a:r>
          </a:p>
        </p:txBody>
      </p:sp>
      <p:sp>
        <p:nvSpPr>
          <p:cNvPr id="37" name="Rectangle 36"/>
          <p:cNvSpPr/>
          <p:nvPr/>
        </p:nvSpPr>
        <p:spPr>
          <a:xfrm>
            <a:off x="8458200" y="2843784"/>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0" y="2898648"/>
            <a:ext cx="2926080" cy="347472"/>
          </a:xfrm>
          <a:prstGeom prst="rect">
            <a:avLst/>
          </a:prstGeom>
          <a:noFill/>
        </p:spPr>
        <p:txBody>
          <a:bodyPr wrap="square">
            <a:spAutoFit/>
          </a:bodyPr>
          <a:lstStyle/>
          <a:p>
            <a:pPr algn="l"/>
            <a:r>
              <a:rPr sz="1000" b="0" i="0">
                <a:solidFill>
                  <a:srgbClr val="E8E8F4"/>
                </a:solidFill>
              </a:rPr>
              <a:t>500 tasks: 227.72s (5.5x time for 5x tasks)</a:t>
            </a:r>
          </a:p>
        </p:txBody>
      </p:sp>
      <p:sp>
        <p:nvSpPr>
          <p:cNvPr id="39" name="Rectangle 38"/>
          <p:cNvSpPr/>
          <p:nvPr/>
        </p:nvSpPr>
        <p:spPr>
          <a:xfrm>
            <a:off x="8458200" y="3374135"/>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0" y="3428999"/>
            <a:ext cx="2926080" cy="347472"/>
          </a:xfrm>
          <a:prstGeom prst="rect">
            <a:avLst/>
          </a:prstGeom>
          <a:noFill/>
        </p:spPr>
        <p:txBody>
          <a:bodyPr wrap="square">
            <a:spAutoFit/>
          </a:bodyPr>
          <a:lstStyle/>
          <a:p>
            <a:pPr algn="l"/>
            <a:r>
              <a:rPr sz="1000" b="0" i="0">
                <a:solidFill>
                  <a:srgbClr val="E8E8F4"/>
                </a:solidFill>
              </a:rPr>
              <a:t>1000 tasks: 430.08s (10.4x time)</a:t>
            </a:r>
          </a:p>
        </p:txBody>
      </p:sp>
      <p:sp>
        <p:nvSpPr>
          <p:cNvPr id="41" name="Rectangle 40"/>
          <p:cNvSpPr/>
          <p:nvPr/>
        </p:nvSpPr>
        <p:spPr>
          <a:xfrm>
            <a:off x="8458200" y="3904488"/>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95360" y="3959352"/>
            <a:ext cx="2926080" cy="347472"/>
          </a:xfrm>
          <a:prstGeom prst="rect">
            <a:avLst/>
          </a:prstGeom>
          <a:noFill/>
        </p:spPr>
        <p:txBody>
          <a:bodyPr wrap="square">
            <a:spAutoFit/>
          </a:bodyPr>
          <a:lstStyle/>
          <a:p>
            <a:pPr algn="l"/>
            <a:r>
              <a:rPr sz="1000" b="0" i="0">
                <a:solidFill>
                  <a:srgbClr val="E8E8F4"/>
                </a:solidFill>
              </a:rPr>
              <a:t>2000 tasks: 820.38s (19.9x time)</a:t>
            </a:r>
          </a:p>
        </p:txBody>
      </p:sp>
      <p:sp>
        <p:nvSpPr>
          <p:cNvPr id="43" name="Rectangle 42"/>
          <p:cNvSpPr/>
          <p:nvPr/>
        </p:nvSpPr>
        <p:spPr>
          <a:xfrm>
            <a:off x="8458200" y="4434840"/>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0" y="4489704"/>
            <a:ext cx="2926080" cy="347472"/>
          </a:xfrm>
          <a:prstGeom prst="rect">
            <a:avLst/>
          </a:prstGeom>
          <a:noFill/>
        </p:spPr>
        <p:txBody>
          <a:bodyPr wrap="square">
            <a:spAutoFit/>
          </a:bodyPr>
          <a:lstStyle/>
          <a:p>
            <a:pPr algn="l"/>
            <a:r>
              <a:rPr sz="1000" b="0" i="0">
                <a:solidFill>
                  <a:srgbClr val="E8E8F4"/>
                </a:solidFill>
              </a:rPr>
              <a:t>Slight super-linear due to queue depth</a:t>
            </a:r>
          </a:p>
        </p:txBody>
      </p:sp>
      <p:sp>
        <p:nvSpPr>
          <p:cNvPr id="45" name="Rectangle 44"/>
          <p:cNvSpPr/>
          <p:nvPr/>
        </p:nvSpPr>
        <p:spPr>
          <a:xfrm>
            <a:off x="8458200" y="4965191"/>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95360" y="5020055"/>
            <a:ext cx="2926080" cy="347472"/>
          </a:xfrm>
          <a:prstGeom prst="rect">
            <a:avLst/>
          </a:prstGeom>
          <a:noFill/>
        </p:spPr>
        <p:txBody>
          <a:bodyPr wrap="square">
            <a:spAutoFit/>
          </a:bodyPr>
          <a:lstStyle/>
          <a:p>
            <a:pPr algn="l"/>
            <a:r>
              <a:rPr sz="1000" b="0" i="0">
                <a:solidFill>
                  <a:srgbClr val="E8E8F4"/>
                </a:solidFill>
              </a:rPr>
              <a:t>Scheduler overhead remains constant</a:t>
            </a:r>
          </a:p>
        </p:txBody>
      </p:sp>
      <p:sp>
        <p:nvSpPr>
          <p:cNvPr id="47" name="Rectangle 46"/>
          <p:cNvSpPr/>
          <p:nvPr/>
        </p:nvSpPr>
        <p:spPr>
          <a:xfrm>
            <a:off x="8458200" y="5495543"/>
            <a:ext cx="3200400" cy="45720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95360" y="5550407"/>
            <a:ext cx="2926080" cy="347472"/>
          </a:xfrm>
          <a:prstGeom prst="rect">
            <a:avLst/>
          </a:prstGeom>
          <a:noFill/>
        </p:spPr>
        <p:txBody>
          <a:bodyPr wrap="square">
            <a:spAutoFit/>
          </a:bodyPr>
          <a:lstStyle/>
          <a:p>
            <a:pPr algn="l"/>
            <a:r>
              <a:rPr sz="1000" b="0" i="0">
                <a:solidFill>
                  <a:srgbClr val="E8E8F4"/>
                </a:solidFill>
              </a:rPr>
              <a:t>Suitable for large-scale deployments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Results: Latency by Frame Resolution</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Network + compute breakdown across providers</a:t>
            </a:r>
          </a:p>
        </p:txBody>
      </p:sp>
      <p:sp>
        <p:nvSpPr>
          <p:cNvPr id="6" name="Rectangle 5"/>
          <p:cNvSpPr/>
          <p:nvPr/>
        </p:nvSpPr>
        <p:spPr>
          <a:xfrm>
            <a:off x="365760" y="1234440"/>
            <a:ext cx="11430000" cy="4572000"/>
          </a:xfrm>
          <a:prstGeom prst="rect">
            <a:avLst/>
          </a:prstGeom>
          <a:solidFill>
            <a:srgbClr val="181826"/>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11064240" cy="347472"/>
          </a:xfrm>
          <a:prstGeom prst="rect">
            <a:avLst/>
          </a:prstGeom>
          <a:noFill/>
        </p:spPr>
        <p:txBody>
          <a:bodyPr wrap="square">
            <a:spAutoFit/>
          </a:bodyPr>
          <a:lstStyle/>
          <a:p>
            <a:pPr algn="l"/>
            <a:r>
              <a:rPr sz="1400" b="1" i="0">
                <a:solidFill>
                  <a:srgbClr val="E8E8F4"/>
                </a:solidFill>
              </a:rPr>
              <a:t>End-to-End Latency (ms) by Resolution and Provider</a:t>
            </a:r>
          </a:p>
        </p:txBody>
      </p:sp>
      <p:sp>
        <p:nvSpPr>
          <p:cNvPr id="8" name="TextBox 7"/>
          <p:cNvSpPr txBox="1"/>
          <p:nvPr/>
        </p:nvSpPr>
        <p:spPr>
          <a:xfrm>
            <a:off x="731520" y="5468112"/>
            <a:ext cx="2697480" cy="256032"/>
          </a:xfrm>
          <a:prstGeom prst="rect">
            <a:avLst/>
          </a:prstGeom>
          <a:noFill/>
        </p:spPr>
        <p:txBody>
          <a:bodyPr wrap="square">
            <a:spAutoFit/>
          </a:bodyPr>
          <a:lstStyle/>
          <a:p>
            <a:pPr algn="ctr"/>
            <a:r>
              <a:rPr sz="1000" b="1" i="0">
                <a:solidFill>
                  <a:srgbClr val="7878A0"/>
                </a:solidFill>
              </a:rPr>
              <a:t>240p</a:t>
            </a:r>
          </a:p>
        </p:txBody>
      </p:sp>
      <p:sp>
        <p:nvSpPr>
          <p:cNvPr id="9" name="Rectangle 8"/>
          <p:cNvSpPr/>
          <p:nvPr/>
        </p:nvSpPr>
        <p:spPr>
          <a:xfrm>
            <a:off x="841248" y="5149685"/>
            <a:ext cx="502920" cy="24527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4921085"/>
            <a:ext cx="594360" cy="201168"/>
          </a:xfrm>
          <a:prstGeom prst="rect">
            <a:avLst/>
          </a:prstGeom>
          <a:noFill/>
        </p:spPr>
        <p:txBody>
          <a:bodyPr wrap="square">
            <a:spAutoFit/>
          </a:bodyPr>
          <a:lstStyle/>
          <a:p>
            <a:pPr algn="ctr"/>
            <a:r>
              <a:rPr sz="700" b="1" i="0">
                <a:solidFill>
                  <a:srgbClr val="E8E8F4"/>
                </a:solidFill>
              </a:rPr>
              <a:t>24</a:t>
            </a:r>
          </a:p>
        </p:txBody>
      </p:sp>
      <p:sp>
        <p:nvSpPr>
          <p:cNvPr id="11" name="Rectangle 10"/>
          <p:cNvSpPr/>
          <p:nvPr/>
        </p:nvSpPr>
        <p:spPr>
          <a:xfrm>
            <a:off x="1435608" y="4996389"/>
            <a:ext cx="502920" cy="398570"/>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8" y="4767789"/>
            <a:ext cx="594360" cy="201168"/>
          </a:xfrm>
          <a:prstGeom prst="rect">
            <a:avLst/>
          </a:prstGeom>
          <a:noFill/>
        </p:spPr>
        <p:txBody>
          <a:bodyPr wrap="square">
            <a:spAutoFit/>
          </a:bodyPr>
          <a:lstStyle/>
          <a:p>
            <a:pPr algn="ctr"/>
            <a:r>
              <a:rPr sz="700" b="1" i="0">
                <a:solidFill>
                  <a:srgbClr val="E8E8F4"/>
                </a:solidFill>
              </a:rPr>
              <a:t>39</a:t>
            </a:r>
          </a:p>
        </p:txBody>
      </p:sp>
      <p:sp>
        <p:nvSpPr>
          <p:cNvPr id="13" name="Rectangle 12"/>
          <p:cNvSpPr/>
          <p:nvPr/>
        </p:nvSpPr>
        <p:spPr>
          <a:xfrm>
            <a:off x="2029968" y="4802213"/>
            <a:ext cx="502920" cy="592746"/>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4573613"/>
            <a:ext cx="594360" cy="201168"/>
          </a:xfrm>
          <a:prstGeom prst="rect">
            <a:avLst/>
          </a:prstGeom>
          <a:noFill/>
        </p:spPr>
        <p:txBody>
          <a:bodyPr wrap="square">
            <a:spAutoFit/>
          </a:bodyPr>
          <a:lstStyle/>
          <a:p>
            <a:pPr algn="ctr"/>
            <a:r>
              <a:rPr sz="700" b="1" i="0">
                <a:solidFill>
                  <a:srgbClr val="E8E8F4"/>
                </a:solidFill>
              </a:rPr>
              <a:t>58</a:t>
            </a:r>
          </a:p>
        </p:txBody>
      </p:sp>
      <p:sp>
        <p:nvSpPr>
          <p:cNvPr id="15" name="Rectangle 14"/>
          <p:cNvSpPr/>
          <p:nvPr/>
        </p:nvSpPr>
        <p:spPr>
          <a:xfrm>
            <a:off x="2624328" y="4321884"/>
            <a:ext cx="502920" cy="1073075"/>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78608" y="4093284"/>
            <a:ext cx="594360" cy="201168"/>
          </a:xfrm>
          <a:prstGeom prst="rect">
            <a:avLst/>
          </a:prstGeom>
          <a:noFill/>
        </p:spPr>
        <p:txBody>
          <a:bodyPr wrap="square">
            <a:spAutoFit/>
          </a:bodyPr>
          <a:lstStyle/>
          <a:p>
            <a:pPr algn="ctr"/>
            <a:r>
              <a:rPr sz="700" b="1" i="0">
                <a:solidFill>
                  <a:srgbClr val="E8E8F4"/>
                </a:solidFill>
              </a:rPr>
              <a:t>105</a:t>
            </a:r>
          </a:p>
        </p:txBody>
      </p:sp>
      <p:sp>
        <p:nvSpPr>
          <p:cNvPr id="17" name="TextBox 16"/>
          <p:cNvSpPr txBox="1"/>
          <p:nvPr/>
        </p:nvSpPr>
        <p:spPr>
          <a:xfrm>
            <a:off x="3429000" y="5468112"/>
            <a:ext cx="2697480" cy="256032"/>
          </a:xfrm>
          <a:prstGeom prst="rect">
            <a:avLst/>
          </a:prstGeom>
          <a:noFill/>
        </p:spPr>
        <p:txBody>
          <a:bodyPr wrap="square">
            <a:spAutoFit/>
          </a:bodyPr>
          <a:lstStyle/>
          <a:p>
            <a:pPr algn="ctr"/>
            <a:r>
              <a:rPr sz="1000" b="1" i="0">
                <a:solidFill>
                  <a:srgbClr val="7878A0"/>
                </a:solidFill>
              </a:rPr>
              <a:t>360p</a:t>
            </a:r>
          </a:p>
        </p:txBody>
      </p:sp>
      <p:sp>
        <p:nvSpPr>
          <p:cNvPr id="18" name="Rectangle 17"/>
          <p:cNvSpPr/>
          <p:nvPr/>
        </p:nvSpPr>
        <p:spPr>
          <a:xfrm>
            <a:off x="3538728" y="4945290"/>
            <a:ext cx="502920" cy="449669"/>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4716690"/>
            <a:ext cx="594360" cy="201168"/>
          </a:xfrm>
          <a:prstGeom prst="rect">
            <a:avLst/>
          </a:prstGeom>
          <a:noFill/>
        </p:spPr>
        <p:txBody>
          <a:bodyPr wrap="square">
            <a:spAutoFit/>
          </a:bodyPr>
          <a:lstStyle/>
          <a:p>
            <a:pPr algn="ctr"/>
            <a:r>
              <a:rPr sz="700" b="1" i="0">
                <a:solidFill>
                  <a:srgbClr val="E8E8F4"/>
                </a:solidFill>
              </a:rPr>
              <a:t>44</a:t>
            </a:r>
          </a:p>
        </p:txBody>
      </p:sp>
      <p:sp>
        <p:nvSpPr>
          <p:cNvPr id="20" name="Rectangle 19"/>
          <p:cNvSpPr/>
          <p:nvPr/>
        </p:nvSpPr>
        <p:spPr>
          <a:xfrm>
            <a:off x="4133088" y="4812433"/>
            <a:ext cx="502920" cy="582526"/>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87368" y="4583833"/>
            <a:ext cx="594360" cy="201168"/>
          </a:xfrm>
          <a:prstGeom prst="rect">
            <a:avLst/>
          </a:prstGeom>
          <a:noFill/>
        </p:spPr>
        <p:txBody>
          <a:bodyPr wrap="square">
            <a:spAutoFit/>
          </a:bodyPr>
          <a:lstStyle/>
          <a:p>
            <a:pPr algn="ctr"/>
            <a:r>
              <a:rPr sz="700" b="1" i="0">
                <a:solidFill>
                  <a:srgbClr val="E8E8F4"/>
                </a:solidFill>
              </a:rPr>
              <a:t>57</a:t>
            </a:r>
          </a:p>
        </p:txBody>
      </p:sp>
      <p:sp>
        <p:nvSpPr>
          <p:cNvPr id="22" name="Rectangle 21"/>
          <p:cNvSpPr/>
          <p:nvPr/>
        </p:nvSpPr>
        <p:spPr>
          <a:xfrm>
            <a:off x="4727448" y="4577378"/>
            <a:ext cx="502920" cy="817581"/>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1728" y="4348778"/>
            <a:ext cx="594360" cy="201168"/>
          </a:xfrm>
          <a:prstGeom prst="rect">
            <a:avLst/>
          </a:prstGeom>
          <a:noFill/>
        </p:spPr>
        <p:txBody>
          <a:bodyPr wrap="square">
            <a:spAutoFit/>
          </a:bodyPr>
          <a:lstStyle/>
          <a:p>
            <a:pPr algn="ctr"/>
            <a:r>
              <a:rPr sz="700" b="1" i="0">
                <a:solidFill>
                  <a:srgbClr val="E8E8F4"/>
                </a:solidFill>
              </a:rPr>
              <a:t>80</a:t>
            </a:r>
          </a:p>
        </p:txBody>
      </p:sp>
      <p:sp>
        <p:nvSpPr>
          <p:cNvPr id="24" name="Rectangle 23"/>
          <p:cNvSpPr/>
          <p:nvPr/>
        </p:nvSpPr>
        <p:spPr>
          <a:xfrm>
            <a:off x="5321808" y="4086830"/>
            <a:ext cx="502920" cy="1308129"/>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6088" y="3858230"/>
            <a:ext cx="594360" cy="201168"/>
          </a:xfrm>
          <a:prstGeom prst="rect">
            <a:avLst/>
          </a:prstGeom>
          <a:noFill/>
        </p:spPr>
        <p:txBody>
          <a:bodyPr wrap="square">
            <a:spAutoFit/>
          </a:bodyPr>
          <a:lstStyle/>
          <a:p>
            <a:pPr algn="ctr"/>
            <a:r>
              <a:rPr sz="700" b="1" i="0">
                <a:solidFill>
                  <a:srgbClr val="E8E8F4"/>
                </a:solidFill>
              </a:rPr>
              <a:t>128</a:t>
            </a:r>
          </a:p>
        </p:txBody>
      </p:sp>
      <p:sp>
        <p:nvSpPr>
          <p:cNvPr id="26" name="TextBox 25"/>
          <p:cNvSpPr txBox="1"/>
          <p:nvPr/>
        </p:nvSpPr>
        <p:spPr>
          <a:xfrm>
            <a:off x="6126480" y="5468112"/>
            <a:ext cx="2697480" cy="256032"/>
          </a:xfrm>
          <a:prstGeom prst="rect">
            <a:avLst/>
          </a:prstGeom>
          <a:noFill/>
        </p:spPr>
        <p:txBody>
          <a:bodyPr wrap="square">
            <a:spAutoFit/>
          </a:bodyPr>
          <a:lstStyle/>
          <a:p>
            <a:pPr algn="ctr"/>
            <a:r>
              <a:rPr sz="1000" b="1" i="0">
                <a:solidFill>
                  <a:srgbClr val="7878A0"/>
                </a:solidFill>
              </a:rPr>
              <a:t>480p</a:t>
            </a:r>
          </a:p>
        </p:txBody>
      </p:sp>
      <p:sp>
        <p:nvSpPr>
          <p:cNvPr id="27" name="Rectangle 26"/>
          <p:cNvSpPr/>
          <p:nvPr/>
        </p:nvSpPr>
        <p:spPr>
          <a:xfrm>
            <a:off x="6236208" y="4720455"/>
            <a:ext cx="502920" cy="67450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0488" y="4491855"/>
            <a:ext cx="594360" cy="201168"/>
          </a:xfrm>
          <a:prstGeom prst="rect">
            <a:avLst/>
          </a:prstGeom>
          <a:noFill/>
        </p:spPr>
        <p:txBody>
          <a:bodyPr wrap="square">
            <a:spAutoFit/>
          </a:bodyPr>
          <a:lstStyle/>
          <a:p>
            <a:pPr algn="ctr"/>
            <a:r>
              <a:rPr sz="700" b="1" i="0">
                <a:solidFill>
                  <a:srgbClr val="E8E8F4"/>
                </a:solidFill>
              </a:rPr>
              <a:t>66</a:t>
            </a:r>
          </a:p>
        </p:txBody>
      </p:sp>
      <p:sp>
        <p:nvSpPr>
          <p:cNvPr id="29" name="Rectangle 28"/>
          <p:cNvSpPr/>
          <p:nvPr/>
        </p:nvSpPr>
        <p:spPr>
          <a:xfrm>
            <a:off x="6830568" y="4546719"/>
            <a:ext cx="502920" cy="848240"/>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84848" y="4318119"/>
            <a:ext cx="594360" cy="201168"/>
          </a:xfrm>
          <a:prstGeom prst="rect">
            <a:avLst/>
          </a:prstGeom>
          <a:noFill/>
        </p:spPr>
        <p:txBody>
          <a:bodyPr wrap="square">
            <a:spAutoFit/>
          </a:bodyPr>
          <a:lstStyle/>
          <a:p>
            <a:pPr algn="ctr"/>
            <a:r>
              <a:rPr sz="700" b="1" i="0">
                <a:solidFill>
                  <a:srgbClr val="E8E8F4"/>
                </a:solidFill>
              </a:rPr>
              <a:t>83</a:t>
            </a:r>
          </a:p>
        </p:txBody>
      </p:sp>
      <p:sp>
        <p:nvSpPr>
          <p:cNvPr id="31" name="Rectangle 30"/>
          <p:cNvSpPr/>
          <p:nvPr/>
        </p:nvSpPr>
        <p:spPr>
          <a:xfrm>
            <a:off x="7424928" y="4281005"/>
            <a:ext cx="502920" cy="1113954"/>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79208" y="4052405"/>
            <a:ext cx="594360" cy="201168"/>
          </a:xfrm>
          <a:prstGeom prst="rect">
            <a:avLst/>
          </a:prstGeom>
          <a:noFill/>
        </p:spPr>
        <p:txBody>
          <a:bodyPr wrap="square">
            <a:spAutoFit/>
          </a:bodyPr>
          <a:lstStyle/>
          <a:p>
            <a:pPr algn="ctr"/>
            <a:r>
              <a:rPr sz="700" b="1" i="0">
                <a:solidFill>
                  <a:srgbClr val="E8E8F4"/>
                </a:solidFill>
              </a:rPr>
              <a:t>109</a:t>
            </a:r>
          </a:p>
        </p:txBody>
      </p:sp>
      <p:sp>
        <p:nvSpPr>
          <p:cNvPr id="33" name="Rectangle 32"/>
          <p:cNvSpPr/>
          <p:nvPr/>
        </p:nvSpPr>
        <p:spPr>
          <a:xfrm>
            <a:off x="8019288" y="3770017"/>
            <a:ext cx="502920" cy="1624942"/>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73568" y="3541417"/>
            <a:ext cx="594360" cy="201168"/>
          </a:xfrm>
          <a:prstGeom prst="rect">
            <a:avLst/>
          </a:prstGeom>
          <a:noFill/>
        </p:spPr>
        <p:txBody>
          <a:bodyPr wrap="square">
            <a:spAutoFit/>
          </a:bodyPr>
          <a:lstStyle/>
          <a:p>
            <a:pPr algn="ctr"/>
            <a:r>
              <a:rPr sz="700" b="1" i="0">
                <a:solidFill>
                  <a:srgbClr val="E8E8F4"/>
                </a:solidFill>
              </a:rPr>
              <a:t>159</a:t>
            </a:r>
          </a:p>
        </p:txBody>
      </p:sp>
      <p:sp>
        <p:nvSpPr>
          <p:cNvPr id="35" name="TextBox 34"/>
          <p:cNvSpPr txBox="1"/>
          <p:nvPr/>
        </p:nvSpPr>
        <p:spPr>
          <a:xfrm>
            <a:off x="8823960" y="5468112"/>
            <a:ext cx="2697480" cy="256032"/>
          </a:xfrm>
          <a:prstGeom prst="rect">
            <a:avLst/>
          </a:prstGeom>
          <a:noFill/>
        </p:spPr>
        <p:txBody>
          <a:bodyPr wrap="square">
            <a:spAutoFit/>
          </a:bodyPr>
          <a:lstStyle/>
          <a:p>
            <a:pPr algn="ctr"/>
            <a:r>
              <a:rPr sz="1000" b="1" i="0">
                <a:solidFill>
                  <a:srgbClr val="7878A0"/>
                </a:solidFill>
              </a:rPr>
              <a:t>720p</a:t>
            </a:r>
          </a:p>
        </p:txBody>
      </p:sp>
      <p:sp>
        <p:nvSpPr>
          <p:cNvPr id="36" name="Rectangle 35"/>
          <p:cNvSpPr/>
          <p:nvPr/>
        </p:nvSpPr>
        <p:spPr>
          <a:xfrm>
            <a:off x="8933688" y="3678039"/>
            <a:ext cx="502920" cy="171692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87968" y="3449439"/>
            <a:ext cx="594360" cy="201168"/>
          </a:xfrm>
          <a:prstGeom prst="rect">
            <a:avLst/>
          </a:prstGeom>
          <a:noFill/>
        </p:spPr>
        <p:txBody>
          <a:bodyPr wrap="square">
            <a:spAutoFit/>
          </a:bodyPr>
          <a:lstStyle/>
          <a:p>
            <a:pPr algn="ctr"/>
            <a:r>
              <a:rPr sz="700" b="1" i="0">
                <a:solidFill>
                  <a:srgbClr val="E8E8F4"/>
                </a:solidFill>
              </a:rPr>
              <a:t>168</a:t>
            </a:r>
          </a:p>
        </p:txBody>
      </p:sp>
      <p:sp>
        <p:nvSpPr>
          <p:cNvPr id="38" name="Rectangle 37"/>
          <p:cNvSpPr/>
          <p:nvPr/>
        </p:nvSpPr>
        <p:spPr>
          <a:xfrm>
            <a:off x="9528048" y="3422545"/>
            <a:ext cx="502920" cy="1972414"/>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82328" y="3193945"/>
            <a:ext cx="594360" cy="201168"/>
          </a:xfrm>
          <a:prstGeom prst="rect">
            <a:avLst/>
          </a:prstGeom>
          <a:noFill/>
        </p:spPr>
        <p:txBody>
          <a:bodyPr wrap="square">
            <a:spAutoFit/>
          </a:bodyPr>
          <a:lstStyle/>
          <a:p>
            <a:pPr algn="ctr"/>
            <a:r>
              <a:rPr sz="700" b="1" i="0">
                <a:solidFill>
                  <a:srgbClr val="E8E8F4"/>
                </a:solidFill>
              </a:rPr>
              <a:t>193</a:t>
            </a:r>
          </a:p>
        </p:txBody>
      </p:sp>
      <p:sp>
        <p:nvSpPr>
          <p:cNvPr id="40" name="Rectangle 39"/>
          <p:cNvSpPr/>
          <p:nvPr/>
        </p:nvSpPr>
        <p:spPr>
          <a:xfrm>
            <a:off x="10122408" y="3402105"/>
            <a:ext cx="502920" cy="1992854"/>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76688" y="3173505"/>
            <a:ext cx="594360" cy="201168"/>
          </a:xfrm>
          <a:prstGeom prst="rect">
            <a:avLst/>
          </a:prstGeom>
          <a:noFill/>
        </p:spPr>
        <p:txBody>
          <a:bodyPr wrap="square">
            <a:spAutoFit/>
          </a:bodyPr>
          <a:lstStyle/>
          <a:p>
            <a:pPr algn="ctr"/>
            <a:r>
              <a:rPr sz="700" b="1" i="0">
                <a:solidFill>
                  <a:srgbClr val="E8E8F4"/>
                </a:solidFill>
              </a:rPr>
              <a:t>195</a:t>
            </a:r>
          </a:p>
        </p:txBody>
      </p:sp>
      <p:sp>
        <p:nvSpPr>
          <p:cNvPr id="42" name="Rectangle 41"/>
          <p:cNvSpPr/>
          <p:nvPr/>
        </p:nvSpPr>
        <p:spPr>
          <a:xfrm>
            <a:off x="10716768" y="2237052"/>
            <a:ext cx="502920" cy="3157907"/>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1520" y="4883971"/>
            <a:ext cx="10789920" cy="7315"/>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7472" y="4792531"/>
            <a:ext cx="347472" cy="201168"/>
          </a:xfrm>
          <a:prstGeom prst="rect">
            <a:avLst/>
          </a:prstGeom>
          <a:noFill/>
        </p:spPr>
        <p:txBody>
          <a:bodyPr wrap="square">
            <a:spAutoFit/>
          </a:bodyPr>
          <a:lstStyle/>
          <a:p>
            <a:pPr algn="r"/>
            <a:r>
              <a:rPr sz="700" b="0" i="0">
                <a:solidFill>
                  <a:srgbClr val="3E3E58"/>
                </a:solidFill>
              </a:rPr>
              <a:t>50</a:t>
            </a:r>
          </a:p>
        </p:txBody>
      </p:sp>
      <p:sp>
        <p:nvSpPr>
          <p:cNvPr id="45" name="Rectangle 44"/>
          <p:cNvSpPr/>
          <p:nvPr/>
        </p:nvSpPr>
        <p:spPr>
          <a:xfrm>
            <a:off x="731520" y="4372983"/>
            <a:ext cx="10789920" cy="7315"/>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7472" y="4281543"/>
            <a:ext cx="347472" cy="201168"/>
          </a:xfrm>
          <a:prstGeom prst="rect">
            <a:avLst/>
          </a:prstGeom>
          <a:noFill/>
        </p:spPr>
        <p:txBody>
          <a:bodyPr wrap="square">
            <a:spAutoFit/>
          </a:bodyPr>
          <a:lstStyle/>
          <a:p>
            <a:pPr algn="r"/>
            <a:r>
              <a:rPr sz="700" b="0" i="0">
                <a:solidFill>
                  <a:srgbClr val="3E3E58"/>
                </a:solidFill>
              </a:rPr>
              <a:t>100</a:t>
            </a:r>
          </a:p>
        </p:txBody>
      </p:sp>
      <p:sp>
        <p:nvSpPr>
          <p:cNvPr id="47" name="Rectangle 46"/>
          <p:cNvSpPr/>
          <p:nvPr/>
        </p:nvSpPr>
        <p:spPr>
          <a:xfrm>
            <a:off x="731520" y="3861995"/>
            <a:ext cx="10789920" cy="7315"/>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7472" y="3770555"/>
            <a:ext cx="347472" cy="201168"/>
          </a:xfrm>
          <a:prstGeom prst="rect">
            <a:avLst/>
          </a:prstGeom>
          <a:noFill/>
        </p:spPr>
        <p:txBody>
          <a:bodyPr wrap="square">
            <a:spAutoFit/>
          </a:bodyPr>
          <a:lstStyle/>
          <a:p>
            <a:pPr algn="r"/>
            <a:r>
              <a:rPr sz="700" b="0" i="0">
                <a:solidFill>
                  <a:srgbClr val="3E3E58"/>
                </a:solidFill>
              </a:rPr>
              <a:t>150</a:t>
            </a:r>
          </a:p>
        </p:txBody>
      </p:sp>
      <p:sp>
        <p:nvSpPr>
          <p:cNvPr id="49" name="Rectangle 48"/>
          <p:cNvSpPr/>
          <p:nvPr/>
        </p:nvSpPr>
        <p:spPr>
          <a:xfrm>
            <a:off x="731520" y="3351007"/>
            <a:ext cx="10789920" cy="7315"/>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7472" y="3259567"/>
            <a:ext cx="347472" cy="201168"/>
          </a:xfrm>
          <a:prstGeom prst="rect">
            <a:avLst/>
          </a:prstGeom>
          <a:noFill/>
        </p:spPr>
        <p:txBody>
          <a:bodyPr wrap="square">
            <a:spAutoFit/>
          </a:bodyPr>
          <a:lstStyle/>
          <a:p>
            <a:pPr algn="r"/>
            <a:r>
              <a:rPr sz="700" b="0" i="0">
                <a:solidFill>
                  <a:srgbClr val="3E3E58"/>
                </a:solidFill>
              </a:rPr>
              <a:t>200</a:t>
            </a:r>
          </a:p>
        </p:txBody>
      </p:sp>
      <p:sp>
        <p:nvSpPr>
          <p:cNvPr id="51" name="Rectangle 50"/>
          <p:cNvSpPr/>
          <p:nvPr/>
        </p:nvSpPr>
        <p:spPr>
          <a:xfrm>
            <a:off x="731520" y="2840018"/>
            <a:ext cx="10789920" cy="7315"/>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7472" y="2748578"/>
            <a:ext cx="347472" cy="201168"/>
          </a:xfrm>
          <a:prstGeom prst="rect">
            <a:avLst/>
          </a:prstGeom>
          <a:noFill/>
        </p:spPr>
        <p:txBody>
          <a:bodyPr wrap="square">
            <a:spAutoFit/>
          </a:bodyPr>
          <a:lstStyle/>
          <a:p>
            <a:pPr algn="r"/>
            <a:r>
              <a:rPr sz="700" b="0" i="0">
                <a:solidFill>
                  <a:srgbClr val="3E3E58"/>
                </a:solidFill>
              </a:rPr>
              <a:t>250</a:t>
            </a:r>
          </a:p>
        </p:txBody>
      </p:sp>
      <p:sp>
        <p:nvSpPr>
          <p:cNvPr id="53" name="Rectangle 52"/>
          <p:cNvSpPr/>
          <p:nvPr/>
        </p:nvSpPr>
        <p:spPr>
          <a:xfrm>
            <a:off x="731520" y="2329030"/>
            <a:ext cx="10789920" cy="7315"/>
          </a:xfrm>
          <a:prstGeom prst="rect">
            <a:avLst/>
          </a:prstGeom>
          <a:solidFill>
            <a:srgbClr val="28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7472" y="2237590"/>
            <a:ext cx="347472" cy="201168"/>
          </a:xfrm>
          <a:prstGeom prst="rect">
            <a:avLst/>
          </a:prstGeom>
          <a:noFill/>
        </p:spPr>
        <p:txBody>
          <a:bodyPr wrap="square">
            <a:spAutoFit/>
          </a:bodyPr>
          <a:lstStyle/>
          <a:p>
            <a:pPr algn="r"/>
            <a:r>
              <a:rPr sz="700" b="0" i="0">
                <a:solidFill>
                  <a:srgbClr val="3E3E58"/>
                </a:solidFill>
              </a:rPr>
              <a:t>300</a:t>
            </a:r>
          </a:p>
        </p:txBody>
      </p:sp>
      <p:sp>
        <p:nvSpPr>
          <p:cNvPr id="55" name="TextBox 54"/>
          <p:cNvSpPr txBox="1"/>
          <p:nvPr/>
        </p:nvSpPr>
        <p:spPr>
          <a:xfrm>
            <a:off x="384048" y="1920240"/>
            <a:ext cx="320040" cy="274320"/>
          </a:xfrm>
          <a:prstGeom prst="rect">
            <a:avLst/>
          </a:prstGeom>
          <a:noFill/>
        </p:spPr>
        <p:txBody>
          <a:bodyPr wrap="square">
            <a:spAutoFit/>
          </a:bodyPr>
          <a:lstStyle/>
          <a:p>
            <a:pPr algn="l"/>
            <a:r>
              <a:rPr sz="900" b="0" i="0">
                <a:solidFill>
                  <a:srgbClr val="3E3E58"/>
                </a:solidFill>
              </a:rPr>
              <a:t>ms</a:t>
            </a:r>
          </a:p>
        </p:txBody>
      </p:sp>
      <p:sp>
        <p:nvSpPr>
          <p:cNvPr id="56" name="Rectangle 55"/>
          <p:cNvSpPr/>
          <p:nvPr/>
        </p:nvSpPr>
        <p:spPr>
          <a:xfrm>
            <a:off x="1371600" y="6016752"/>
            <a:ext cx="201168" cy="20116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45920" y="5943600"/>
            <a:ext cx="2194560" cy="347472"/>
          </a:xfrm>
          <a:prstGeom prst="rect">
            <a:avLst/>
          </a:prstGeom>
          <a:noFill/>
        </p:spPr>
        <p:txBody>
          <a:bodyPr wrap="square">
            <a:spAutoFit/>
          </a:bodyPr>
          <a:lstStyle/>
          <a:p>
            <a:pPr algn="l"/>
            <a:r>
              <a:rPr sz="1000" b="0" i="0">
                <a:solidFill>
                  <a:srgbClr val="7878A0"/>
                </a:solidFill>
              </a:rPr>
              <a:t>Cloudlet-GPU1</a:t>
            </a:r>
          </a:p>
        </p:txBody>
      </p:sp>
      <p:sp>
        <p:nvSpPr>
          <p:cNvPr id="58" name="Rectangle 57"/>
          <p:cNvSpPr/>
          <p:nvPr/>
        </p:nvSpPr>
        <p:spPr>
          <a:xfrm>
            <a:off x="3931920" y="6016752"/>
            <a:ext cx="201168" cy="201168"/>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06240" y="5943600"/>
            <a:ext cx="2194560" cy="347472"/>
          </a:xfrm>
          <a:prstGeom prst="rect">
            <a:avLst/>
          </a:prstGeom>
          <a:noFill/>
        </p:spPr>
        <p:txBody>
          <a:bodyPr wrap="square">
            <a:spAutoFit/>
          </a:bodyPr>
          <a:lstStyle/>
          <a:p>
            <a:pPr algn="l"/>
            <a:r>
              <a:rPr sz="1000" b="0" i="0">
                <a:solidFill>
                  <a:srgbClr val="7878A0"/>
                </a:solidFill>
              </a:rPr>
              <a:t>Cloudlet-GPU2</a:t>
            </a:r>
          </a:p>
        </p:txBody>
      </p:sp>
      <p:sp>
        <p:nvSpPr>
          <p:cNvPr id="60" name="Rectangle 59"/>
          <p:cNvSpPr/>
          <p:nvPr/>
        </p:nvSpPr>
        <p:spPr>
          <a:xfrm>
            <a:off x="6492240" y="6016752"/>
            <a:ext cx="201168" cy="20116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66560" y="5943600"/>
            <a:ext cx="2194560" cy="347472"/>
          </a:xfrm>
          <a:prstGeom prst="rect">
            <a:avLst/>
          </a:prstGeom>
          <a:noFill/>
        </p:spPr>
        <p:txBody>
          <a:bodyPr wrap="square">
            <a:spAutoFit/>
          </a:bodyPr>
          <a:lstStyle/>
          <a:p>
            <a:pPr algn="l"/>
            <a:r>
              <a:rPr sz="1000" b="0" i="0">
                <a:solidFill>
                  <a:srgbClr val="7878A0"/>
                </a:solidFill>
              </a:rPr>
              <a:t>Azure East US</a:t>
            </a:r>
          </a:p>
        </p:txBody>
      </p:sp>
      <p:sp>
        <p:nvSpPr>
          <p:cNvPr id="62" name="Rectangle 61"/>
          <p:cNvSpPr/>
          <p:nvPr/>
        </p:nvSpPr>
        <p:spPr>
          <a:xfrm>
            <a:off x="9052559" y="6016752"/>
            <a:ext cx="201168" cy="201168"/>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26879" y="5943600"/>
            <a:ext cx="2194560" cy="347472"/>
          </a:xfrm>
          <a:prstGeom prst="rect">
            <a:avLst/>
          </a:prstGeom>
          <a:noFill/>
        </p:spPr>
        <p:txBody>
          <a:bodyPr wrap="square">
            <a:spAutoFit/>
          </a:bodyPr>
          <a:lstStyle/>
          <a:p>
            <a:pPr algn="l"/>
            <a:r>
              <a:rPr sz="1000" b="0" i="0">
                <a:solidFill>
                  <a:srgbClr val="7878A0"/>
                </a:solidFill>
              </a:rPr>
              <a:t>Azure West US</a:t>
            </a:r>
          </a:p>
        </p:txBody>
      </p:sp>
      <p:sp>
        <p:nvSpPr>
          <p:cNvPr id="64" name="Rectangle 63"/>
          <p:cNvSpPr/>
          <p:nvPr/>
        </p:nvSpPr>
        <p:spPr>
          <a:xfrm>
            <a:off x="365760" y="6263640"/>
            <a:ext cx="11430000" cy="502920"/>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8640" y="6327648"/>
            <a:ext cx="11064240" cy="384048"/>
          </a:xfrm>
          <a:prstGeom prst="rect">
            <a:avLst/>
          </a:prstGeom>
          <a:noFill/>
        </p:spPr>
        <p:txBody>
          <a:bodyPr wrap="square">
            <a:spAutoFit/>
          </a:bodyPr>
          <a:lstStyle/>
          <a:p>
            <a:pPr algn="l"/>
            <a:r>
              <a:rPr sz="1000" b="0" i="0">
                <a:solidFill>
                  <a:srgbClr val="7878A0"/>
                </a:solidFill>
              </a:rPr>
              <a:t>Cloudlet GPU servers consistently outperform Azure cloud by 2-3x. Latency grows with resolution due to larger JPEG payload size. 720p Azure West US peaks at 309ms.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Learning Outcomes</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Key takeaways from building DetectNet Pro</a:t>
            </a:r>
          </a:p>
        </p:txBody>
      </p:sp>
      <p:sp>
        <p:nvSpPr>
          <p:cNvPr id="6" name="Rectangle 5"/>
          <p:cNvSpPr/>
          <p:nvPr/>
        </p:nvSpPr>
        <p:spPr>
          <a:xfrm>
            <a:off x="365760" y="1234440"/>
            <a:ext cx="5669280" cy="1664208"/>
          </a:xfrm>
          <a:prstGeom prst="rect">
            <a:avLst/>
          </a:prstGeom>
          <a:solidFill>
            <a:srgbClr val="181826"/>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64008" cy="16642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5303520" cy="347472"/>
          </a:xfrm>
          <a:prstGeom prst="rect">
            <a:avLst/>
          </a:prstGeom>
          <a:noFill/>
        </p:spPr>
        <p:txBody>
          <a:bodyPr wrap="square">
            <a:spAutoFit/>
          </a:bodyPr>
          <a:lstStyle/>
          <a:p>
            <a:pPr algn="l"/>
            <a:r>
              <a:rPr sz="1300" b="1" i="0">
                <a:solidFill>
                  <a:srgbClr val="00FF88"/>
                </a:solidFill>
              </a:rPr>
              <a:t>Browser-Native AI is Viable</a:t>
            </a:r>
          </a:p>
        </p:txBody>
      </p:sp>
      <p:sp>
        <p:nvSpPr>
          <p:cNvPr id="9" name="TextBox 8"/>
          <p:cNvSpPr txBox="1"/>
          <p:nvPr/>
        </p:nvSpPr>
        <p:spPr>
          <a:xfrm>
            <a:off x="548640" y="1709928"/>
            <a:ext cx="5303520" cy="1097280"/>
          </a:xfrm>
          <a:prstGeom prst="rect">
            <a:avLst/>
          </a:prstGeom>
          <a:noFill/>
        </p:spPr>
        <p:txBody>
          <a:bodyPr wrap="square">
            <a:spAutoFit/>
          </a:bodyPr>
          <a:lstStyle/>
          <a:p>
            <a:pPr algn="l"/>
            <a:r>
              <a:rPr sz="1100" b="0" i="0">
                <a:solidFill>
                  <a:srgbClr val="7878A0"/>
                </a:solidFill>
              </a:rPr>
              <a:t>TensorFlow.js + COCO-SSD enables full on-device inference in any modern browser without installation. 80-class detection runs in real time on mobile hardware.</a:t>
            </a:r>
          </a:p>
        </p:txBody>
      </p:sp>
      <p:sp>
        <p:nvSpPr>
          <p:cNvPr id="10" name="Rectangle 9"/>
          <p:cNvSpPr/>
          <p:nvPr/>
        </p:nvSpPr>
        <p:spPr>
          <a:xfrm>
            <a:off x="6309360" y="1234440"/>
            <a:ext cx="5669280" cy="1664208"/>
          </a:xfrm>
          <a:prstGeom prst="rect">
            <a:avLst/>
          </a:prstGeom>
          <a:solidFill>
            <a:srgbClr val="181826"/>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234440"/>
            <a:ext cx="64008" cy="1664208"/>
          </a:xfrm>
          <a:prstGeom prst="rect">
            <a:avLst/>
          </a:prstGeom>
          <a:solidFill>
            <a:srgbClr val="4D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325880"/>
            <a:ext cx="5303520" cy="347472"/>
          </a:xfrm>
          <a:prstGeom prst="rect">
            <a:avLst/>
          </a:prstGeom>
          <a:noFill/>
        </p:spPr>
        <p:txBody>
          <a:bodyPr wrap="square">
            <a:spAutoFit/>
          </a:bodyPr>
          <a:lstStyle/>
          <a:p>
            <a:pPr algn="l"/>
            <a:r>
              <a:rPr sz="1300" b="1" i="0">
                <a:solidFill>
                  <a:srgbClr val="4D8FFF"/>
                </a:solidFill>
              </a:rPr>
              <a:t>Multi-Objective Optimization Wins</a:t>
            </a:r>
          </a:p>
        </p:txBody>
      </p:sp>
      <p:sp>
        <p:nvSpPr>
          <p:cNvPr id="13" name="TextBox 12"/>
          <p:cNvSpPr txBox="1"/>
          <p:nvPr/>
        </p:nvSpPr>
        <p:spPr>
          <a:xfrm>
            <a:off x="6492240" y="1709928"/>
            <a:ext cx="5303520" cy="1097280"/>
          </a:xfrm>
          <a:prstGeom prst="rect">
            <a:avLst/>
          </a:prstGeom>
          <a:noFill/>
        </p:spPr>
        <p:txBody>
          <a:bodyPr wrap="square">
            <a:spAutoFit/>
          </a:bodyPr>
          <a:lstStyle/>
          <a:p>
            <a:pPr algn="l"/>
            <a:r>
              <a:rPr sz="1100" b="0" i="0">
                <a:solidFill>
                  <a:srgbClr val="7878A0"/>
                </a:solidFill>
              </a:rPr>
              <a:t>MOMPSO reduces energy by 52% vs Greedy by balancing health, latency, and queue depth simultaneously. Single-objective approaches leave significant gains on the table.</a:t>
            </a:r>
          </a:p>
        </p:txBody>
      </p:sp>
      <p:sp>
        <p:nvSpPr>
          <p:cNvPr id="14" name="Rectangle 13"/>
          <p:cNvSpPr/>
          <p:nvPr/>
        </p:nvSpPr>
        <p:spPr>
          <a:xfrm>
            <a:off x="365760" y="3063240"/>
            <a:ext cx="5669280" cy="1664208"/>
          </a:xfrm>
          <a:prstGeom prst="rect">
            <a:avLst/>
          </a:prstGeom>
          <a:solidFill>
            <a:srgbClr val="181826"/>
          </a:solidFill>
          <a:ln w="1905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063240"/>
            <a:ext cx="64008" cy="1664208"/>
          </a:xfrm>
          <a:prstGeom prst="rect">
            <a:avLst/>
          </a:prstGeom>
          <a:solidFill>
            <a:srgbClr val="AA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154680"/>
            <a:ext cx="5303520" cy="347472"/>
          </a:xfrm>
          <a:prstGeom prst="rect">
            <a:avLst/>
          </a:prstGeom>
          <a:noFill/>
        </p:spPr>
        <p:txBody>
          <a:bodyPr wrap="square">
            <a:spAutoFit/>
          </a:bodyPr>
          <a:lstStyle/>
          <a:p>
            <a:pPr algn="l"/>
            <a:r>
              <a:rPr sz="1300" b="1" i="0">
                <a:solidFill>
                  <a:srgbClr val="AA66FF"/>
                </a:solidFill>
              </a:rPr>
              <a:t>WebSocket Relay Enables Cross-Network Collaboration</a:t>
            </a:r>
          </a:p>
        </p:txBody>
      </p:sp>
      <p:sp>
        <p:nvSpPr>
          <p:cNvPr id="17" name="TextBox 16"/>
          <p:cNvSpPr txBox="1"/>
          <p:nvPr/>
        </p:nvSpPr>
        <p:spPr>
          <a:xfrm>
            <a:off x="548640" y="3538728"/>
            <a:ext cx="5303520" cy="1097280"/>
          </a:xfrm>
          <a:prstGeom prst="rect">
            <a:avLst/>
          </a:prstGeom>
          <a:noFill/>
        </p:spPr>
        <p:txBody>
          <a:bodyPr wrap="square">
            <a:spAutoFit/>
          </a:bodyPr>
          <a:lstStyle/>
          <a:p>
            <a:pPr algn="l"/>
            <a:r>
              <a:rPr sz="1100" b="0" i="0">
                <a:solidFill>
                  <a:srgbClr val="7878A0"/>
                </a:solidFill>
              </a:rPr>
              <a:t>Pure WebSocket relay architecture works across 4G, different WiFi, and different countries without WebRTC complexity or P2P NAT traversal issues.</a:t>
            </a:r>
          </a:p>
        </p:txBody>
      </p:sp>
      <p:sp>
        <p:nvSpPr>
          <p:cNvPr id="18" name="Rectangle 17"/>
          <p:cNvSpPr/>
          <p:nvPr/>
        </p:nvSpPr>
        <p:spPr>
          <a:xfrm>
            <a:off x="6309360" y="3063240"/>
            <a:ext cx="5669280" cy="1664208"/>
          </a:xfrm>
          <a:prstGeom prst="rect">
            <a:avLst/>
          </a:prstGeom>
          <a:solidFill>
            <a:srgbClr val="18182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3063240"/>
            <a:ext cx="64008" cy="1664208"/>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154680"/>
            <a:ext cx="5303520" cy="347472"/>
          </a:xfrm>
          <a:prstGeom prst="rect">
            <a:avLst/>
          </a:prstGeom>
          <a:noFill/>
        </p:spPr>
        <p:txBody>
          <a:bodyPr wrap="square">
            <a:spAutoFit/>
          </a:bodyPr>
          <a:lstStyle/>
          <a:p>
            <a:pPr algn="l"/>
            <a:r>
              <a:rPr sz="1300" b="1" i="0">
                <a:solidFill>
                  <a:srgbClr val="FFAA00"/>
                </a:solidFill>
              </a:rPr>
              <a:t>Health-Aware Scheduling is Critical</a:t>
            </a:r>
          </a:p>
        </p:txBody>
      </p:sp>
      <p:sp>
        <p:nvSpPr>
          <p:cNvPr id="21" name="TextBox 20"/>
          <p:cNvSpPr txBox="1"/>
          <p:nvPr/>
        </p:nvSpPr>
        <p:spPr>
          <a:xfrm>
            <a:off x="6492240" y="3538728"/>
            <a:ext cx="5303520" cy="1097280"/>
          </a:xfrm>
          <a:prstGeom prst="rect">
            <a:avLst/>
          </a:prstGeom>
          <a:noFill/>
        </p:spPr>
        <p:txBody>
          <a:bodyPr wrap="square">
            <a:spAutoFit/>
          </a:bodyPr>
          <a:lstStyle/>
          <a:p>
            <a:pPr algn="l"/>
            <a:r>
              <a:rPr sz="1100" b="0" i="0">
                <a:solidFill>
                  <a:srgbClr val="7878A0"/>
                </a:solidFill>
              </a:rPr>
              <a:t>Incorporating battery, CPU, network, FPS, and memory metrics into scheduling decisions dramatically improves load distribution and reduces stragglers.</a:t>
            </a:r>
          </a:p>
        </p:txBody>
      </p:sp>
      <p:sp>
        <p:nvSpPr>
          <p:cNvPr id="22" name="Rectangle 21"/>
          <p:cNvSpPr/>
          <p:nvPr/>
        </p:nvSpPr>
        <p:spPr>
          <a:xfrm>
            <a:off x="365760" y="4892040"/>
            <a:ext cx="5669280" cy="1664208"/>
          </a:xfrm>
          <a:prstGeom prst="rect">
            <a:avLst/>
          </a:prstGeom>
          <a:solidFill>
            <a:srgbClr val="181826"/>
          </a:solidFill>
          <a:ln w="1905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892040"/>
            <a:ext cx="64008" cy="1664208"/>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983480"/>
            <a:ext cx="5303520" cy="347472"/>
          </a:xfrm>
          <a:prstGeom prst="rect">
            <a:avLst/>
          </a:prstGeom>
          <a:noFill/>
        </p:spPr>
        <p:txBody>
          <a:bodyPr wrap="square">
            <a:spAutoFit/>
          </a:bodyPr>
          <a:lstStyle/>
          <a:p>
            <a:pPr algn="l"/>
            <a:r>
              <a:rPr sz="1300" b="1" i="0">
                <a:solidFill>
                  <a:srgbClr val="FF4466"/>
                </a:solidFill>
              </a:rPr>
              <a:t>Simultaneous Scheduler Benchmarking</a:t>
            </a:r>
          </a:p>
        </p:txBody>
      </p:sp>
      <p:sp>
        <p:nvSpPr>
          <p:cNvPr id="25" name="TextBox 24"/>
          <p:cNvSpPr txBox="1"/>
          <p:nvPr/>
        </p:nvSpPr>
        <p:spPr>
          <a:xfrm>
            <a:off x="548640" y="5367528"/>
            <a:ext cx="5303520" cy="1097280"/>
          </a:xfrm>
          <a:prstGeom prst="rect">
            <a:avLst/>
          </a:prstGeom>
          <a:noFill/>
        </p:spPr>
        <p:txBody>
          <a:bodyPr wrap="square">
            <a:spAutoFit/>
          </a:bodyPr>
          <a:lstStyle/>
          <a:p>
            <a:pPr algn="l"/>
            <a:r>
              <a:rPr sz="1100" b="0" i="0">
                <a:solidFill>
                  <a:srgbClr val="7878A0"/>
                </a:solidFill>
              </a:rPr>
              <a:t>Running all 4 schedulers in parallel on identical workloads provides fair, real-time comparison without confounding variables from different test conditions.</a:t>
            </a:r>
          </a:p>
        </p:txBody>
      </p:sp>
      <p:sp>
        <p:nvSpPr>
          <p:cNvPr id="26" name="Rectangle 25"/>
          <p:cNvSpPr/>
          <p:nvPr/>
        </p:nvSpPr>
        <p:spPr>
          <a:xfrm>
            <a:off x="6309360" y="4892040"/>
            <a:ext cx="5669280" cy="1664208"/>
          </a:xfrm>
          <a:prstGeom prst="rect">
            <a:avLst/>
          </a:prstGeom>
          <a:solidFill>
            <a:srgbClr val="181826"/>
          </a:solidFill>
          <a:ln w="19050">
            <a:solidFill>
              <a:srgbClr val="787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4892040"/>
            <a:ext cx="64008" cy="1664208"/>
          </a:xfrm>
          <a:prstGeom prst="rect">
            <a:avLst/>
          </a:prstGeom>
          <a:solidFill>
            <a:srgbClr val="787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4983480"/>
            <a:ext cx="5303520" cy="347472"/>
          </a:xfrm>
          <a:prstGeom prst="rect">
            <a:avLst/>
          </a:prstGeom>
          <a:noFill/>
        </p:spPr>
        <p:txBody>
          <a:bodyPr wrap="square">
            <a:spAutoFit/>
          </a:bodyPr>
          <a:lstStyle/>
          <a:p>
            <a:pPr algn="l"/>
            <a:r>
              <a:rPr sz="1300" b="1" i="0">
                <a:solidFill>
                  <a:srgbClr val="7878A0"/>
                </a:solidFill>
              </a:rPr>
              <a:t>Serverless + Persistent Hybrid Architecture</a:t>
            </a:r>
          </a:p>
        </p:txBody>
      </p:sp>
      <p:sp>
        <p:nvSpPr>
          <p:cNvPr id="29" name="TextBox 28"/>
          <p:cNvSpPr txBox="1"/>
          <p:nvPr/>
        </p:nvSpPr>
        <p:spPr>
          <a:xfrm>
            <a:off x="6492240" y="5367528"/>
            <a:ext cx="5303520" cy="1097280"/>
          </a:xfrm>
          <a:prstGeom prst="rect">
            <a:avLst/>
          </a:prstGeom>
          <a:noFill/>
        </p:spPr>
        <p:txBody>
          <a:bodyPr wrap="square">
            <a:spAutoFit/>
          </a:bodyPr>
          <a:lstStyle/>
          <a:p>
            <a:pPr algn="l"/>
            <a:r>
              <a:rPr sz="1100" b="0" i="0">
                <a:solidFill>
                  <a:srgbClr val="7878A0"/>
                </a:solidFill>
              </a:rPr>
              <a:t>Combining Vercel serverless (frontend/signaling) with Railway persistent Node.js (WebSocket) provides a cost-effective, scalable deployment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Challenges</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Technical obstacles encountered during development</a:t>
            </a:r>
          </a:p>
        </p:txBody>
      </p:sp>
      <p:sp>
        <p:nvSpPr>
          <p:cNvPr id="6" name="Rectangle 5"/>
          <p:cNvSpPr/>
          <p:nvPr/>
        </p:nvSpPr>
        <p:spPr>
          <a:xfrm>
            <a:off x="365760" y="1234440"/>
            <a:ext cx="5669280" cy="1664208"/>
          </a:xfrm>
          <a:prstGeom prst="rect">
            <a:avLst/>
          </a:prstGeom>
          <a:solidFill>
            <a:srgbClr val="181826"/>
          </a:solidFill>
          <a:ln w="1905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54880" y="1325880"/>
            <a:ext cx="1188720" cy="256032"/>
          </a:xfrm>
          <a:prstGeom prst="rect">
            <a:avLst/>
          </a:prstGeom>
          <a:solidFill>
            <a:srgbClr val="101020"/>
          </a:solidFill>
          <a:ln w="1016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325880"/>
            <a:ext cx="1188720" cy="256032"/>
          </a:xfrm>
          <a:prstGeom prst="rect">
            <a:avLst/>
          </a:prstGeom>
          <a:noFill/>
        </p:spPr>
        <p:txBody>
          <a:bodyPr wrap="square">
            <a:spAutoFit/>
          </a:bodyPr>
          <a:lstStyle/>
          <a:p>
            <a:pPr algn="ctr"/>
            <a:r>
              <a:rPr sz="800" b="0" i="0">
                <a:solidFill>
                  <a:srgbClr val="FF4466"/>
                </a:solidFill>
              </a:rPr>
              <a:t>Platform Limitation</a:t>
            </a:r>
          </a:p>
        </p:txBody>
      </p:sp>
      <p:sp>
        <p:nvSpPr>
          <p:cNvPr id="9" name="TextBox 8"/>
          <p:cNvSpPr txBox="1"/>
          <p:nvPr/>
        </p:nvSpPr>
        <p:spPr>
          <a:xfrm>
            <a:off x="530352" y="1325880"/>
            <a:ext cx="4114800" cy="347472"/>
          </a:xfrm>
          <a:prstGeom prst="rect">
            <a:avLst/>
          </a:prstGeom>
          <a:noFill/>
        </p:spPr>
        <p:txBody>
          <a:bodyPr wrap="square">
            <a:spAutoFit/>
          </a:bodyPr>
          <a:lstStyle/>
          <a:p>
            <a:pPr algn="l"/>
            <a:r>
              <a:rPr sz="1300" b="1" i="0">
                <a:solidFill>
                  <a:srgbClr val="FF4466"/>
                </a:solidFill>
              </a:rPr>
              <a:t>iOS Battery API Unavailable</a:t>
            </a:r>
          </a:p>
        </p:txBody>
      </p:sp>
      <p:sp>
        <p:nvSpPr>
          <p:cNvPr id="10" name="TextBox 9"/>
          <p:cNvSpPr txBox="1"/>
          <p:nvPr/>
        </p:nvSpPr>
        <p:spPr>
          <a:xfrm>
            <a:off x="530352" y="1709928"/>
            <a:ext cx="5303520" cy="1097280"/>
          </a:xfrm>
          <a:prstGeom prst="rect">
            <a:avLst/>
          </a:prstGeom>
          <a:noFill/>
        </p:spPr>
        <p:txBody>
          <a:bodyPr wrap="square">
            <a:spAutoFit/>
          </a:bodyPr>
          <a:lstStyle/>
          <a:p>
            <a:pPr algn="l"/>
            <a:r>
              <a:rPr sz="1100" b="0" i="0">
                <a:solidFill>
                  <a:srgbClr val="7878A0"/>
                </a:solidFill>
              </a:rPr>
              <a:t>Battery Status API not supported on iOS Safari. Required dynamic metric redistribution - battery weight (0.20) redistributed proportionally to other metrics on iOS devices.</a:t>
            </a:r>
          </a:p>
        </p:txBody>
      </p:sp>
      <p:sp>
        <p:nvSpPr>
          <p:cNvPr id="11" name="Rectangle 10"/>
          <p:cNvSpPr/>
          <p:nvPr/>
        </p:nvSpPr>
        <p:spPr>
          <a:xfrm>
            <a:off x="6309360" y="1234440"/>
            <a:ext cx="5669280" cy="1664208"/>
          </a:xfrm>
          <a:prstGeom prst="rect">
            <a:avLst/>
          </a:prstGeom>
          <a:solidFill>
            <a:srgbClr val="18182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98480" y="1325880"/>
            <a:ext cx="1188720" cy="256032"/>
          </a:xfrm>
          <a:prstGeom prst="rect">
            <a:avLst/>
          </a:prstGeom>
          <a:solidFill>
            <a:srgbClr val="101020"/>
          </a:solidFill>
          <a:ln w="1016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1325880"/>
            <a:ext cx="1188720" cy="256032"/>
          </a:xfrm>
          <a:prstGeom prst="rect">
            <a:avLst/>
          </a:prstGeom>
          <a:noFill/>
        </p:spPr>
        <p:txBody>
          <a:bodyPr wrap="square">
            <a:spAutoFit/>
          </a:bodyPr>
          <a:lstStyle/>
          <a:p>
            <a:pPr algn="ctr"/>
            <a:r>
              <a:rPr sz="800" b="0" i="0">
                <a:solidFill>
                  <a:srgbClr val="FFAA00"/>
                </a:solidFill>
              </a:rPr>
              <a:t>Architecture</a:t>
            </a:r>
          </a:p>
        </p:txBody>
      </p:sp>
      <p:sp>
        <p:nvSpPr>
          <p:cNvPr id="14" name="TextBox 13"/>
          <p:cNvSpPr txBox="1"/>
          <p:nvPr/>
        </p:nvSpPr>
        <p:spPr>
          <a:xfrm>
            <a:off x="6473952" y="1325880"/>
            <a:ext cx="4114800" cy="347472"/>
          </a:xfrm>
          <a:prstGeom prst="rect">
            <a:avLst/>
          </a:prstGeom>
          <a:noFill/>
        </p:spPr>
        <p:txBody>
          <a:bodyPr wrap="square">
            <a:spAutoFit/>
          </a:bodyPr>
          <a:lstStyle/>
          <a:p>
            <a:pPr algn="l"/>
            <a:r>
              <a:rPr sz="1300" b="1" i="0">
                <a:solidFill>
                  <a:srgbClr val="FFAA00"/>
                </a:solidFill>
              </a:rPr>
              <a:t>WebSocket Relay Bottleneck</a:t>
            </a:r>
          </a:p>
        </p:txBody>
      </p:sp>
      <p:sp>
        <p:nvSpPr>
          <p:cNvPr id="15" name="TextBox 14"/>
          <p:cNvSpPr txBox="1"/>
          <p:nvPr/>
        </p:nvSpPr>
        <p:spPr>
          <a:xfrm>
            <a:off x="6473952" y="1709928"/>
            <a:ext cx="5303520" cy="1097280"/>
          </a:xfrm>
          <a:prstGeom prst="rect">
            <a:avLst/>
          </a:prstGeom>
          <a:noFill/>
        </p:spPr>
        <p:txBody>
          <a:bodyPr wrap="square">
            <a:spAutoFit/>
          </a:bodyPr>
          <a:lstStyle/>
          <a:p>
            <a:pPr algn="l"/>
            <a:r>
              <a:rPr sz="1100" b="0" i="0">
                <a:solidFill>
                  <a:srgbClr val="7878A0"/>
                </a:solidFill>
              </a:rPr>
              <a:t>All traffic routes through one WebSocket server. No horizontal scaling or failover. At high client counts or frame rates, the relay server becomes the single point of failure.</a:t>
            </a:r>
          </a:p>
        </p:txBody>
      </p:sp>
      <p:sp>
        <p:nvSpPr>
          <p:cNvPr id="16" name="Rectangle 15"/>
          <p:cNvSpPr/>
          <p:nvPr/>
        </p:nvSpPr>
        <p:spPr>
          <a:xfrm>
            <a:off x="365760" y="3063240"/>
            <a:ext cx="5669280" cy="1664208"/>
          </a:xfrm>
          <a:prstGeom prst="rect">
            <a:avLst/>
          </a:prstGeom>
          <a:solidFill>
            <a:srgbClr val="181826"/>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0" y="3154680"/>
            <a:ext cx="1188720" cy="256032"/>
          </a:xfrm>
          <a:prstGeom prst="rect">
            <a:avLst/>
          </a:prstGeom>
          <a:solidFill>
            <a:srgbClr val="101020"/>
          </a:solidFill>
          <a:ln w="1016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3154680"/>
            <a:ext cx="1188720" cy="256032"/>
          </a:xfrm>
          <a:prstGeom prst="rect">
            <a:avLst/>
          </a:prstGeom>
          <a:noFill/>
        </p:spPr>
        <p:txBody>
          <a:bodyPr wrap="square">
            <a:spAutoFit/>
          </a:bodyPr>
          <a:lstStyle/>
          <a:p>
            <a:pPr algn="ctr"/>
            <a:r>
              <a:rPr sz="800" b="0" i="0">
                <a:solidFill>
                  <a:srgbClr val="4D8FFF"/>
                </a:solidFill>
              </a:rPr>
              <a:t>Algorithm</a:t>
            </a:r>
          </a:p>
        </p:txBody>
      </p:sp>
      <p:sp>
        <p:nvSpPr>
          <p:cNvPr id="19" name="TextBox 18"/>
          <p:cNvSpPr txBox="1"/>
          <p:nvPr/>
        </p:nvSpPr>
        <p:spPr>
          <a:xfrm>
            <a:off x="530352" y="3154680"/>
            <a:ext cx="4114800" cy="347472"/>
          </a:xfrm>
          <a:prstGeom prst="rect">
            <a:avLst/>
          </a:prstGeom>
          <a:noFill/>
        </p:spPr>
        <p:txBody>
          <a:bodyPr wrap="square">
            <a:spAutoFit/>
          </a:bodyPr>
          <a:lstStyle/>
          <a:p>
            <a:pPr algn="l"/>
            <a:r>
              <a:rPr sz="1300" b="1" i="0">
                <a:solidFill>
                  <a:srgbClr val="4D8FFF"/>
                </a:solidFill>
              </a:rPr>
              <a:t>PSO Real-Time Constraints</a:t>
            </a:r>
          </a:p>
        </p:txBody>
      </p:sp>
      <p:sp>
        <p:nvSpPr>
          <p:cNvPr id="20" name="TextBox 19"/>
          <p:cNvSpPr txBox="1"/>
          <p:nvPr/>
        </p:nvSpPr>
        <p:spPr>
          <a:xfrm>
            <a:off x="530352" y="3538728"/>
            <a:ext cx="5303520" cy="1097280"/>
          </a:xfrm>
          <a:prstGeom prst="rect">
            <a:avLst/>
          </a:prstGeom>
          <a:noFill/>
        </p:spPr>
        <p:txBody>
          <a:bodyPr wrap="square">
            <a:spAutoFit/>
          </a:bodyPr>
          <a:lstStyle/>
          <a:p>
            <a:pPr algn="l"/>
            <a:r>
              <a:rPr sz="1100" b="0" i="0">
                <a:solidFill>
                  <a:srgbClr val="7878A0"/>
                </a:solidFill>
              </a:rPr>
              <a:t>PSO runs only 6 iterations with 8 particles for real-time performance. This is a heuristic approximation, not a converged solution - accuracy vs speed tradeoff.</a:t>
            </a:r>
          </a:p>
        </p:txBody>
      </p:sp>
      <p:sp>
        <p:nvSpPr>
          <p:cNvPr id="21" name="Rectangle 20"/>
          <p:cNvSpPr/>
          <p:nvPr/>
        </p:nvSpPr>
        <p:spPr>
          <a:xfrm>
            <a:off x="6309360" y="3063240"/>
            <a:ext cx="5669280" cy="1664208"/>
          </a:xfrm>
          <a:prstGeom prst="rect">
            <a:avLst/>
          </a:prstGeom>
          <a:solidFill>
            <a:srgbClr val="181826"/>
          </a:solidFill>
          <a:ln w="1905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698480" y="3154680"/>
            <a:ext cx="1188720" cy="256032"/>
          </a:xfrm>
          <a:prstGeom prst="rect">
            <a:avLst/>
          </a:prstGeom>
          <a:solidFill>
            <a:srgbClr val="101020"/>
          </a:solidFill>
          <a:ln w="1016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0" y="3154680"/>
            <a:ext cx="1188720" cy="256032"/>
          </a:xfrm>
          <a:prstGeom prst="rect">
            <a:avLst/>
          </a:prstGeom>
          <a:noFill/>
        </p:spPr>
        <p:txBody>
          <a:bodyPr wrap="square">
            <a:spAutoFit/>
          </a:bodyPr>
          <a:lstStyle/>
          <a:p>
            <a:pPr algn="ctr"/>
            <a:r>
              <a:rPr sz="800" b="0" i="0">
                <a:solidFill>
                  <a:srgbClr val="AA66FF"/>
                </a:solidFill>
              </a:rPr>
              <a:t>Engineering</a:t>
            </a:r>
          </a:p>
        </p:txBody>
      </p:sp>
      <p:sp>
        <p:nvSpPr>
          <p:cNvPr id="24" name="TextBox 23"/>
          <p:cNvSpPr txBox="1"/>
          <p:nvPr/>
        </p:nvSpPr>
        <p:spPr>
          <a:xfrm>
            <a:off x="6473952" y="3154680"/>
            <a:ext cx="4114800" cy="347472"/>
          </a:xfrm>
          <a:prstGeom prst="rect">
            <a:avLst/>
          </a:prstGeom>
          <a:noFill/>
        </p:spPr>
        <p:txBody>
          <a:bodyPr wrap="square">
            <a:spAutoFit/>
          </a:bodyPr>
          <a:lstStyle/>
          <a:p>
            <a:pPr algn="l"/>
            <a:r>
              <a:rPr sz="1300" b="1" i="0">
                <a:solidFill>
                  <a:srgbClr val="AA66FF"/>
                </a:solidFill>
              </a:rPr>
              <a:t>4x Frame Synchronization</a:t>
            </a:r>
          </a:p>
        </p:txBody>
      </p:sp>
      <p:sp>
        <p:nvSpPr>
          <p:cNvPr id="25" name="TextBox 24"/>
          <p:cNvSpPr txBox="1"/>
          <p:nvPr/>
        </p:nvSpPr>
        <p:spPr>
          <a:xfrm>
            <a:off x="6473952" y="3538728"/>
            <a:ext cx="5303520" cy="1097280"/>
          </a:xfrm>
          <a:prstGeom prst="rect">
            <a:avLst/>
          </a:prstGeom>
          <a:noFill/>
        </p:spPr>
        <p:txBody>
          <a:bodyPr wrap="square">
            <a:spAutoFit/>
          </a:bodyPr>
          <a:lstStyle/>
          <a:p>
            <a:pPr algn="l"/>
            <a:r>
              <a:rPr sz="1100" b="0" i="0">
                <a:solidFill>
                  <a:srgbClr val="7878A0"/>
                </a:solidFill>
              </a:rPr>
              <a:t>Each video frame is dispatched 4 times (once per scheduler). Managing frame counters, result attribution, and scheduler tagging across concurrent dispatches added complexity.</a:t>
            </a:r>
          </a:p>
        </p:txBody>
      </p:sp>
      <p:sp>
        <p:nvSpPr>
          <p:cNvPr id="26" name="Rectangle 25"/>
          <p:cNvSpPr/>
          <p:nvPr/>
        </p:nvSpPr>
        <p:spPr>
          <a:xfrm>
            <a:off x="365760" y="4892040"/>
            <a:ext cx="5669280" cy="1664208"/>
          </a:xfrm>
          <a:prstGeom prst="rect">
            <a:avLst/>
          </a:prstGeom>
          <a:solidFill>
            <a:srgbClr val="181826"/>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0" y="4983480"/>
            <a:ext cx="1188720" cy="256032"/>
          </a:xfrm>
          <a:prstGeom prst="rect">
            <a:avLst/>
          </a:prstGeom>
          <a:solidFill>
            <a:srgbClr val="101020"/>
          </a:solidFill>
          <a:ln w="1016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4983480"/>
            <a:ext cx="1188720" cy="256032"/>
          </a:xfrm>
          <a:prstGeom prst="rect">
            <a:avLst/>
          </a:prstGeom>
          <a:noFill/>
        </p:spPr>
        <p:txBody>
          <a:bodyPr wrap="square">
            <a:spAutoFit/>
          </a:bodyPr>
          <a:lstStyle/>
          <a:p>
            <a:pPr algn="ctr"/>
            <a:r>
              <a:rPr sz="800" b="0" i="0">
                <a:solidFill>
                  <a:srgbClr val="00FF88"/>
                </a:solidFill>
              </a:rPr>
              <a:t>Compatibility</a:t>
            </a:r>
          </a:p>
        </p:txBody>
      </p:sp>
      <p:sp>
        <p:nvSpPr>
          <p:cNvPr id="29" name="TextBox 28"/>
          <p:cNvSpPr txBox="1"/>
          <p:nvPr/>
        </p:nvSpPr>
        <p:spPr>
          <a:xfrm>
            <a:off x="530352" y="4983480"/>
            <a:ext cx="4114800" cy="347472"/>
          </a:xfrm>
          <a:prstGeom prst="rect">
            <a:avLst/>
          </a:prstGeom>
          <a:noFill/>
        </p:spPr>
        <p:txBody>
          <a:bodyPr wrap="square">
            <a:spAutoFit/>
          </a:bodyPr>
          <a:lstStyle/>
          <a:p>
            <a:pPr algn="l"/>
            <a:r>
              <a:rPr sz="1300" b="1" i="0">
                <a:solidFill>
                  <a:srgbClr val="00FF88"/>
                </a:solidFill>
              </a:rPr>
              <a:t>Cross-Browser Inconsistencies</a:t>
            </a:r>
          </a:p>
        </p:txBody>
      </p:sp>
      <p:sp>
        <p:nvSpPr>
          <p:cNvPr id="30" name="TextBox 29"/>
          <p:cNvSpPr txBox="1"/>
          <p:nvPr/>
        </p:nvSpPr>
        <p:spPr>
          <a:xfrm>
            <a:off x="530352" y="5367528"/>
            <a:ext cx="5303520" cy="1097280"/>
          </a:xfrm>
          <a:prstGeom prst="rect">
            <a:avLst/>
          </a:prstGeom>
          <a:noFill/>
        </p:spPr>
        <p:txBody>
          <a:bodyPr wrap="square">
            <a:spAutoFit/>
          </a:bodyPr>
          <a:lstStyle/>
          <a:p>
            <a:pPr algn="l"/>
            <a:r>
              <a:rPr sz="1100" b="0" i="0">
                <a:solidFill>
                  <a:srgbClr val="7878A0"/>
                </a:solidFill>
              </a:rPr>
              <a:t>performance.memory is Chrome-only (fixed 50% fallback on Firefox/Safari). navigator.connection.downlink only on Chrome Android. Required multi-tier fallback chains.</a:t>
            </a:r>
          </a:p>
        </p:txBody>
      </p:sp>
      <p:sp>
        <p:nvSpPr>
          <p:cNvPr id="31" name="Rectangle 30"/>
          <p:cNvSpPr/>
          <p:nvPr/>
        </p:nvSpPr>
        <p:spPr>
          <a:xfrm>
            <a:off x="6309360" y="4892040"/>
            <a:ext cx="5669280" cy="1664208"/>
          </a:xfrm>
          <a:prstGeom prst="rect">
            <a:avLst/>
          </a:prstGeom>
          <a:solidFill>
            <a:srgbClr val="181826"/>
          </a:solidFill>
          <a:ln w="19050">
            <a:solidFill>
              <a:srgbClr val="787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98480" y="4983480"/>
            <a:ext cx="1188720" cy="256032"/>
          </a:xfrm>
          <a:prstGeom prst="rect">
            <a:avLst/>
          </a:prstGeom>
          <a:solidFill>
            <a:srgbClr val="101020"/>
          </a:solidFill>
          <a:ln w="10160">
            <a:solidFill>
              <a:srgbClr val="787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98480" y="4983480"/>
            <a:ext cx="1188720" cy="256032"/>
          </a:xfrm>
          <a:prstGeom prst="rect">
            <a:avLst/>
          </a:prstGeom>
          <a:noFill/>
        </p:spPr>
        <p:txBody>
          <a:bodyPr wrap="square">
            <a:spAutoFit/>
          </a:bodyPr>
          <a:lstStyle/>
          <a:p>
            <a:pPr algn="ctr"/>
            <a:r>
              <a:rPr sz="800" b="0" i="0">
                <a:solidFill>
                  <a:srgbClr val="7878A0"/>
                </a:solidFill>
              </a:rPr>
              <a:t>Performance</a:t>
            </a:r>
          </a:p>
        </p:txBody>
      </p:sp>
      <p:sp>
        <p:nvSpPr>
          <p:cNvPr id="34" name="TextBox 33"/>
          <p:cNvSpPr txBox="1"/>
          <p:nvPr/>
        </p:nvSpPr>
        <p:spPr>
          <a:xfrm>
            <a:off x="6473952" y="4983480"/>
            <a:ext cx="4114800" cy="347472"/>
          </a:xfrm>
          <a:prstGeom prst="rect">
            <a:avLst/>
          </a:prstGeom>
          <a:noFill/>
        </p:spPr>
        <p:txBody>
          <a:bodyPr wrap="square">
            <a:spAutoFit/>
          </a:bodyPr>
          <a:lstStyle/>
          <a:p>
            <a:pPr algn="l"/>
            <a:r>
              <a:rPr sz="1300" b="1" i="0">
                <a:solidFill>
                  <a:srgbClr val="7878A0"/>
                </a:solidFill>
              </a:rPr>
              <a:t>JPEG Quality vs Latency Tradeoff</a:t>
            </a:r>
          </a:p>
        </p:txBody>
      </p:sp>
      <p:sp>
        <p:nvSpPr>
          <p:cNvPr id="35" name="TextBox 34"/>
          <p:cNvSpPr txBox="1"/>
          <p:nvPr/>
        </p:nvSpPr>
        <p:spPr>
          <a:xfrm>
            <a:off x="6473952" y="5367528"/>
            <a:ext cx="5303520" cy="1097280"/>
          </a:xfrm>
          <a:prstGeom prst="rect">
            <a:avLst/>
          </a:prstGeom>
          <a:noFill/>
        </p:spPr>
        <p:txBody>
          <a:bodyPr wrap="square">
            <a:spAutoFit/>
          </a:bodyPr>
          <a:lstStyle/>
          <a:p>
            <a:pPr algn="l"/>
            <a:r>
              <a:rPr sz="1100" b="0" i="0">
                <a:solidFill>
                  <a:srgbClr val="7878A0"/>
                </a:solidFill>
              </a:rPr>
              <a:t>Higher JPEG quality increases payload size and network latency. Lower quality degrades detection accuracy. Settled on 50% for live (220ms interval) and 70% for uploads.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85800"/>
          </a:xfrm>
          <a:prstGeom prst="rect">
            <a:avLst/>
          </a:prstGeom>
          <a:noFill/>
        </p:spPr>
        <p:txBody>
          <a:bodyPr wrap="square">
            <a:spAutoFit/>
          </a:bodyPr>
          <a:lstStyle/>
          <a:p>
            <a:pPr algn="l"/>
            <a:r>
              <a:rPr sz="3400" b="1" i="0">
                <a:solidFill>
                  <a:srgbClr val="00FF88"/>
                </a:solidFill>
              </a:rPr>
              <a:t>Future Work</a:t>
            </a:r>
          </a:p>
        </p:txBody>
      </p:sp>
      <p:sp>
        <p:nvSpPr>
          <p:cNvPr id="5" name="TextBox 4"/>
          <p:cNvSpPr txBox="1"/>
          <p:nvPr/>
        </p:nvSpPr>
        <p:spPr>
          <a:xfrm>
            <a:off x="457200" y="804672"/>
            <a:ext cx="10972800" cy="365760"/>
          </a:xfrm>
          <a:prstGeom prst="rect">
            <a:avLst/>
          </a:prstGeom>
          <a:noFill/>
        </p:spPr>
        <p:txBody>
          <a:bodyPr wrap="square">
            <a:spAutoFit/>
          </a:bodyPr>
          <a:lstStyle/>
          <a:p>
            <a:pPr algn="l"/>
            <a:r>
              <a:rPr sz="1300" b="0" i="0">
                <a:solidFill>
                  <a:srgbClr val="7878A0"/>
                </a:solidFill>
              </a:rPr>
              <a:t>Planned improvements and research directions</a:t>
            </a:r>
          </a:p>
        </p:txBody>
      </p:sp>
      <p:sp>
        <p:nvSpPr>
          <p:cNvPr id="6" name="Rectangle 5"/>
          <p:cNvSpPr/>
          <p:nvPr/>
        </p:nvSpPr>
        <p:spPr>
          <a:xfrm>
            <a:off x="365760" y="1234440"/>
            <a:ext cx="3749039" cy="2148840"/>
          </a:xfrm>
          <a:prstGeom prst="rect">
            <a:avLst/>
          </a:prstGeom>
          <a:solidFill>
            <a:srgbClr val="181826"/>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3749039" cy="457200"/>
          </a:xfrm>
          <a:prstGeom prst="rect">
            <a:avLst/>
          </a:prstGeom>
          <a:solidFill>
            <a:srgbClr val="001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289304"/>
            <a:ext cx="3474720" cy="201168"/>
          </a:xfrm>
          <a:prstGeom prst="rect">
            <a:avLst/>
          </a:prstGeom>
          <a:noFill/>
        </p:spPr>
        <p:txBody>
          <a:bodyPr wrap="square">
            <a:spAutoFit/>
          </a:bodyPr>
          <a:lstStyle/>
          <a:p>
            <a:pPr algn="l"/>
            <a:r>
              <a:rPr sz="900" b="0" i="0">
                <a:solidFill>
                  <a:srgbClr val="00FF88"/>
                </a:solidFill>
              </a:rPr>
              <a:t>Infrastructure</a:t>
            </a:r>
          </a:p>
        </p:txBody>
      </p:sp>
      <p:sp>
        <p:nvSpPr>
          <p:cNvPr id="9" name="TextBox 8"/>
          <p:cNvSpPr txBox="1"/>
          <p:nvPr/>
        </p:nvSpPr>
        <p:spPr>
          <a:xfrm>
            <a:off x="475488" y="1490472"/>
            <a:ext cx="3474720" cy="320040"/>
          </a:xfrm>
          <a:prstGeom prst="rect">
            <a:avLst/>
          </a:prstGeom>
          <a:noFill/>
        </p:spPr>
        <p:txBody>
          <a:bodyPr wrap="square">
            <a:spAutoFit/>
          </a:bodyPr>
          <a:lstStyle/>
          <a:p>
            <a:pPr algn="l"/>
            <a:r>
              <a:rPr sz="1200" b="1" i="0">
                <a:solidFill>
                  <a:srgbClr val="E8E8F4"/>
                </a:solidFill>
              </a:rPr>
              <a:t>Horizontal WS Server Scaling</a:t>
            </a:r>
          </a:p>
        </p:txBody>
      </p:sp>
      <p:sp>
        <p:nvSpPr>
          <p:cNvPr id="10" name="TextBox 9"/>
          <p:cNvSpPr txBox="1"/>
          <p:nvPr/>
        </p:nvSpPr>
        <p:spPr>
          <a:xfrm>
            <a:off x="475488" y="1856232"/>
            <a:ext cx="3520440" cy="1417320"/>
          </a:xfrm>
          <a:prstGeom prst="rect">
            <a:avLst/>
          </a:prstGeom>
          <a:noFill/>
        </p:spPr>
        <p:txBody>
          <a:bodyPr wrap="square">
            <a:spAutoFit/>
          </a:bodyPr>
          <a:lstStyle/>
          <a:p>
            <a:pPr algn="l"/>
            <a:r>
              <a:rPr sz="1100" b="0" i="0">
                <a:solidFill>
                  <a:srgbClr val="7878A0"/>
                </a:solidFill>
              </a:rPr>
              <a:t>Deploy multiple relay server instances with load balancing and session affinity. Eliminate single point of failure for production deployments.</a:t>
            </a:r>
          </a:p>
        </p:txBody>
      </p:sp>
      <p:sp>
        <p:nvSpPr>
          <p:cNvPr id="11" name="Rectangle 10"/>
          <p:cNvSpPr/>
          <p:nvPr/>
        </p:nvSpPr>
        <p:spPr>
          <a:xfrm>
            <a:off x="4297680" y="1234440"/>
            <a:ext cx="3749039" cy="2148840"/>
          </a:xfrm>
          <a:prstGeom prst="rect">
            <a:avLst/>
          </a:prstGeom>
          <a:solidFill>
            <a:srgbClr val="181826"/>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234440"/>
            <a:ext cx="3749039" cy="457200"/>
          </a:xfrm>
          <a:prstGeom prst="rect">
            <a:avLst/>
          </a:prstGeom>
          <a:solidFill>
            <a:srgbClr val="09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1289304"/>
            <a:ext cx="3474720" cy="201168"/>
          </a:xfrm>
          <a:prstGeom prst="rect">
            <a:avLst/>
          </a:prstGeom>
          <a:noFill/>
        </p:spPr>
        <p:txBody>
          <a:bodyPr wrap="square">
            <a:spAutoFit/>
          </a:bodyPr>
          <a:lstStyle/>
          <a:p>
            <a:pPr algn="l"/>
            <a:r>
              <a:rPr sz="900" b="0" i="0">
                <a:solidFill>
                  <a:srgbClr val="4D8FFF"/>
                </a:solidFill>
              </a:rPr>
              <a:t>Networking</a:t>
            </a:r>
          </a:p>
        </p:txBody>
      </p:sp>
      <p:sp>
        <p:nvSpPr>
          <p:cNvPr id="14" name="TextBox 13"/>
          <p:cNvSpPr txBox="1"/>
          <p:nvPr/>
        </p:nvSpPr>
        <p:spPr>
          <a:xfrm>
            <a:off x="4407408" y="1490472"/>
            <a:ext cx="3474720" cy="320040"/>
          </a:xfrm>
          <a:prstGeom prst="rect">
            <a:avLst/>
          </a:prstGeom>
          <a:noFill/>
        </p:spPr>
        <p:txBody>
          <a:bodyPr wrap="square">
            <a:spAutoFit/>
          </a:bodyPr>
          <a:lstStyle/>
          <a:p>
            <a:pPr algn="l"/>
            <a:r>
              <a:rPr sz="1200" b="1" i="0">
                <a:solidFill>
                  <a:srgbClr val="E8E8F4"/>
                </a:solidFill>
              </a:rPr>
              <a:t>WebRTC P2P Fallback</a:t>
            </a:r>
          </a:p>
        </p:txBody>
      </p:sp>
      <p:sp>
        <p:nvSpPr>
          <p:cNvPr id="15" name="TextBox 14"/>
          <p:cNvSpPr txBox="1"/>
          <p:nvPr/>
        </p:nvSpPr>
        <p:spPr>
          <a:xfrm>
            <a:off x="4407408" y="1856232"/>
            <a:ext cx="3520440" cy="1417320"/>
          </a:xfrm>
          <a:prstGeom prst="rect">
            <a:avLst/>
          </a:prstGeom>
          <a:noFill/>
        </p:spPr>
        <p:txBody>
          <a:bodyPr wrap="square">
            <a:spAutoFit/>
          </a:bodyPr>
          <a:lstStyle/>
          <a:p>
            <a:pPr algn="l"/>
            <a:r>
              <a:rPr sz="1100" b="0" i="0">
                <a:solidFill>
                  <a:srgbClr val="7878A0"/>
                </a:solidFill>
              </a:rPr>
              <a:t>Add direct peer-to-peer connections for clients on the same network to bypass relay server and reduce latency by 40-60ms.</a:t>
            </a:r>
          </a:p>
        </p:txBody>
      </p:sp>
      <p:sp>
        <p:nvSpPr>
          <p:cNvPr id="16" name="Rectangle 15"/>
          <p:cNvSpPr/>
          <p:nvPr/>
        </p:nvSpPr>
        <p:spPr>
          <a:xfrm>
            <a:off x="8229600" y="1234440"/>
            <a:ext cx="3749039" cy="2148840"/>
          </a:xfrm>
          <a:prstGeom prst="rect">
            <a:avLst/>
          </a:prstGeom>
          <a:solidFill>
            <a:srgbClr val="18182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234440"/>
            <a:ext cx="3749039" cy="457200"/>
          </a:xfrm>
          <a:prstGeom prst="rect">
            <a:avLst/>
          </a:prstGeom>
          <a:solidFill>
            <a:srgbClr val="1E1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1289304"/>
            <a:ext cx="3474720" cy="201168"/>
          </a:xfrm>
          <a:prstGeom prst="rect">
            <a:avLst/>
          </a:prstGeom>
          <a:noFill/>
        </p:spPr>
        <p:txBody>
          <a:bodyPr wrap="square">
            <a:spAutoFit/>
          </a:bodyPr>
          <a:lstStyle/>
          <a:p>
            <a:pPr algn="l"/>
            <a:r>
              <a:rPr sz="900" b="0" i="0">
                <a:solidFill>
                  <a:srgbClr val="FFAA00"/>
                </a:solidFill>
              </a:rPr>
              <a:t>Accuracy</a:t>
            </a:r>
          </a:p>
        </p:txBody>
      </p:sp>
      <p:sp>
        <p:nvSpPr>
          <p:cNvPr id="19" name="TextBox 18"/>
          <p:cNvSpPr txBox="1"/>
          <p:nvPr/>
        </p:nvSpPr>
        <p:spPr>
          <a:xfrm>
            <a:off x="8339328" y="1490472"/>
            <a:ext cx="3474720" cy="320040"/>
          </a:xfrm>
          <a:prstGeom prst="rect">
            <a:avLst/>
          </a:prstGeom>
          <a:noFill/>
        </p:spPr>
        <p:txBody>
          <a:bodyPr wrap="square">
            <a:spAutoFit/>
          </a:bodyPr>
          <a:lstStyle/>
          <a:p>
            <a:pPr algn="l"/>
            <a:r>
              <a:rPr sz="1200" b="1" i="0">
                <a:solidFill>
                  <a:srgbClr val="E8E8F4"/>
                </a:solidFill>
              </a:rPr>
              <a:t>Dynamic Power Model</a:t>
            </a:r>
          </a:p>
        </p:txBody>
      </p:sp>
      <p:sp>
        <p:nvSpPr>
          <p:cNvPr id="20" name="TextBox 19"/>
          <p:cNvSpPr txBox="1"/>
          <p:nvPr/>
        </p:nvSpPr>
        <p:spPr>
          <a:xfrm>
            <a:off x="8339328" y="1856232"/>
            <a:ext cx="3520440" cy="1417320"/>
          </a:xfrm>
          <a:prstGeom prst="rect">
            <a:avLst/>
          </a:prstGeom>
          <a:noFill/>
        </p:spPr>
        <p:txBody>
          <a:bodyPr wrap="square">
            <a:spAutoFit/>
          </a:bodyPr>
          <a:lstStyle/>
          <a:p>
            <a:pPr algn="l"/>
            <a:r>
              <a:rPr sz="1100" b="0" i="0">
                <a:solidFill>
                  <a:srgbClr val="7878A0"/>
                </a:solidFill>
              </a:rPr>
              <a:t>Replace fixed 15W assumption with device-specific power profiling. Use battery drain rate measurement for accurate energy estimation.</a:t>
            </a:r>
          </a:p>
        </p:txBody>
      </p:sp>
      <p:sp>
        <p:nvSpPr>
          <p:cNvPr id="21" name="Rectangle 20"/>
          <p:cNvSpPr/>
          <p:nvPr/>
        </p:nvSpPr>
        <p:spPr>
          <a:xfrm>
            <a:off x="365760" y="3566160"/>
            <a:ext cx="3749039" cy="2148840"/>
          </a:xfrm>
          <a:prstGeom prst="rect">
            <a:avLst/>
          </a:prstGeom>
          <a:solidFill>
            <a:srgbClr val="181826"/>
          </a:solidFill>
          <a:ln w="1905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566160"/>
            <a:ext cx="3749039" cy="457200"/>
          </a:xfrm>
          <a:prstGeom prst="rect">
            <a:avLst/>
          </a:prstGeom>
          <a:solidFill>
            <a:srgbClr val="14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3621024"/>
            <a:ext cx="3474720" cy="201168"/>
          </a:xfrm>
          <a:prstGeom prst="rect">
            <a:avLst/>
          </a:prstGeom>
          <a:noFill/>
        </p:spPr>
        <p:txBody>
          <a:bodyPr wrap="square">
            <a:spAutoFit/>
          </a:bodyPr>
          <a:lstStyle/>
          <a:p>
            <a:pPr algn="l"/>
            <a:r>
              <a:rPr sz="900" b="0" i="0">
                <a:solidFill>
                  <a:srgbClr val="AA66FF"/>
                </a:solidFill>
              </a:rPr>
              <a:t>AI/ML</a:t>
            </a:r>
          </a:p>
        </p:txBody>
      </p:sp>
      <p:sp>
        <p:nvSpPr>
          <p:cNvPr id="24" name="TextBox 23"/>
          <p:cNvSpPr txBox="1"/>
          <p:nvPr/>
        </p:nvSpPr>
        <p:spPr>
          <a:xfrm>
            <a:off x="475488" y="3822192"/>
            <a:ext cx="3474720" cy="320040"/>
          </a:xfrm>
          <a:prstGeom prst="rect">
            <a:avLst/>
          </a:prstGeom>
          <a:noFill/>
        </p:spPr>
        <p:txBody>
          <a:bodyPr wrap="square">
            <a:spAutoFit/>
          </a:bodyPr>
          <a:lstStyle/>
          <a:p>
            <a:pPr algn="l"/>
            <a:r>
              <a:rPr sz="1200" b="1" i="0">
                <a:solidFill>
                  <a:srgbClr val="E8E8F4"/>
                </a:solidFill>
              </a:rPr>
              <a:t>Federated Learning</a:t>
            </a:r>
          </a:p>
        </p:txBody>
      </p:sp>
      <p:sp>
        <p:nvSpPr>
          <p:cNvPr id="25" name="TextBox 24"/>
          <p:cNvSpPr txBox="1"/>
          <p:nvPr/>
        </p:nvSpPr>
        <p:spPr>
          <a:xfrm>
            <a:off x="475488" y="4187952"/>
            <a:ext cx="3520440" cy="1417320"/>
          </a:xfrm>
          <a:prstGeom prst="rect">
            <a:avLst/>
          </a:prstGeom>
          <a:noFill/>
        </p:spPr>
        <p:txBody>
          <a:bodyPr wrap="square">
            <a:spAutoFit/>
          </a:bodyPr>
          <a:lstStyle/>
          <a:p>
            <a:pPr algn="l"/>
            <a:r>
              <a:rPr sz="1100" b="0" i="0">
                <a:solidFill>
                  <a:srgbClr val="7878A0"/>
                </a:solidFill>
              </a:rPr>
              <a:t>Enable model fine-tuning across client devices without sharing raw video data. Improve detection accuracy for domain-specific objects.</a:t>
            </a:r>
          </a:p>
        </p:txBody>
      </p:sp>
      <p:sp>
        <p:nvSpPr>
          <p:cNvPr id="26" name="Rectangle 25"/>
          <p:cNvSpPr/>
          <p:nvPr/>
        </p:nvSpPr>
        <p:spPr>
          <a:xfrm>
            <a:off x="4297680" y="3566160"/>
            <a:ext cx="3749039" cy="2148840"/>
          </a:xfrm>
          <a:prstGeom prst="rect">
            <a:avLst/>
          </a:prstGeom>
          <a:solidFill>
            <a:srgbClr val="181826"/>
          </a:solidFill>
          <a:ln w="1905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97680" y="3566160"/>
            <a:ext cx="3749039" cy="457200"/>
          </a:xfrm>
          <a:prstGeom prst="rect">
            <a:avLst/>
          </a:prstGeom>
          <a:solidFill>
            <a:srgbClr val="1E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07408" y="3621024"/>
            <a:ext cx="3474720" cy="201168"/>
          </a:xfrm>
          <a:prstGeom prst="rect">
            <a:avLst/>
          </a:prstGeom>
          <a:noFill/>
        </p:spPr>
        <p:txBody>
          <a:bodyPr wrap="square">
            <a:spAutoFit/>
          </a:bodyPr>
          <a:lstStyle/>
          <a:p>
            <a:pPr algn="l"/>
            <a:r>
              <a:rPr sz="900" b="0" i="0">
                <a:solidFill>
                  <a:srgbClr val="FF4466"/>
                </a:solidFill>
              </a:rPr>
              <a:t>Extensibility</a:t>
            </a:r>
          </a:p>
        </p:txBody>
      </p:sp>
      <p:sp>
        <p:nvSpPr>
          <p:cNvPr id="29" name="TextBox 28"/>
          <p:cNvSpPr txBox="1"/>
          <p:nvPr/>
        </p:nvSpPr>
        <p:spPr>
          <a:xfrm>
            <a:off x="4407408" y="3822192"/>
            <a:ext cx="3474720" cy="320040"/>
          </a:xfrm>
          <a:prstGeom prst="rect">
            <a:avLst/>
          </a:prstGeom>
          <a:noFill/>
        </p:spPr>
        <p:txBody>
          <a:bodyPr wrap="square">
            <a:spAutoFit/>
          </a:bodyPr>
          <a:lstStyle/>
          <a:p>
            <a:pPr algn="l"/>
            <a:r>
              <a:rPr sz="1200" b="1" i="0">
                <a:solidFill>
                  <a:srgbClr val="E8E8F4"/>
                </a:solidFill>
              </a:rPr>
              <a:t>Custom ML Model Support</a:t>
            </a:r>
          </a:p>
        </p:txBody>
      </p:sp>
      <p:sp>
        <p:nvSpPr>
          <p:cNvPr id="30" name="TextBox 29"/>
          <p:cNvSpPr txBox="1"/>
          <p:nvPr/>
        </p:nvSpPr>
        <p:spPr>
          <a:xfrm>
            <a:off x="4407408" y="4187952"/>
            <a:ext cx="3520440" cy="1417320"/>
          </a:xfrm>
          <a:prstGeom prst="rect">
            <a:avLst/>
          </a:prstGeom>
          <a:noFill/>
        </p:spPr>
        <p:txBody>
          <a:bodyPr wrap="square">
            <a:spAutoFit/>
          </a:bodyPr>
          <a:lstStyle/>
          <a:p>
            <a:pPr algn="l"/>
            <a:r>
              <a:rPr sz="1100" b="0" i="0">
                <a:solidFill>
                  <a:srgbClr val="7878A0"/>
                </a:solidFill>
              </a:rPr>
              <a:t>Allow hosts to upload custom TensorFlow.js models beyond COCO-SSD. Support YOLO, EfficientDet, and domain-specific detection models.</a:t>
            </a:r>
          </a:p>
        </p:txBody>
      </p:sp>
      <p:sp>
        <p:nvSpPr>
          <p:cNvPr id="31" name="Rectangle 30"/>
          <p:cNvSpPr/>
          <p:nvPr/>
        </p:nvSpPr>
        <p:spPr>
          <a:xfrm>
            <a:off x="8229600" y="3566160"/>
            <a:ext cx="3749039" cy="2148840"/>
          </a:xfrm>
          <a:prstGeom prst="rect">
            <a:avLst/>
          </a:prstGeom>
          <a:solidFill>
            <a:srgbClr val="181826"/>
          </a:solidFill>
          <a:ln w="19050">
            <a:solidFill>
              <a:srgbClr val="787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566160"/>
            <a:ext cx="3749039" cy="457200"/>
          </a:xfrm>
          <a:prstGeom prst="rect">
            <a:avLst/>
          </a:prstGeom>
          <a:solidFill>
            <a:srgbClr val="0E0E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8" y="3621024"/>
            <a:ext cx="3474720" cy="201168"/>
          </a:xfrm>
          <a:prstGeom prst="rect">
            <a:avLst/>
          </a:prstGeom>
          <a:noFill/>
        </p:spPr>
        <p:txBody>
          <a:bodyPr wrap="square">
            <a:spAutoFit/>
          </a:bodyPr>
          <a:lstStyle/>
          <a:p>
            <a:pPr algn="l"/>
            <a:r>
              <a:rPr sz="900" b="0" i="0">
                <a:solidFill>
                  <a:srgbClr val="7878A0"/>
                </a:solidFill>
              </a:rPr>
              <a:t>Platform</a:t>
            </a:r>
          </a:p>
        </p:txBody>
      </p:sp>
      <p:sp>
        <p:nvSpPr>
          <p:cNvPr id="34" name="TextBox 33"/>
          <p:cNvSpPr txBox="1"/>
          <p:nvPr/>
        </p:nvSpPr>
        <p:spPr>
          <a:xfrm>
            <a:off x="8339328" y="3822192"/>
            <a:ext cx="3474720" cy="320040"/>
          </a:xfrm>
          <a:prstGeom prst="rect">
            <a:avLst/>
          </a:prstGeom>
          <a:noFill/>
        </p:spPr>
        <p:txBody>
          <a:bodyPr wrap="square">
            <a:spAutoFit/>
          </a:bodyPr>
          <a:lstStyle/>
          <a:p>
            <a:pPr algn="l"/>
            <a:r>
              <a:rPr sz="1200" b="1" i="0">
                <a:solidFill>
                  <a:srgbClr val="E8E8F4"/>
                </a:solidFill>
              </a:rPr>
              <a:t>Mobile Native App</a:t>
            </a:r>
          </a:p>
        </p:txBody>
      </p:sp>
      <p:sp>
        <p:nvSpPr>
          <p:cNvPr id="35" name="TextBox 34"/>
          <p:cNvSpPr txBox="1"/>
          <p:nvPr/>
        </p:nvSpPr>
        <p:spPr>
          <a:xfrm>
            <a:off x="8339328" y="4187952"/>
            <a:ext cx="3520440" cy="1417320"/>
          </a:xfrm>
          <a:prstGeom prst="rect">
            <a:avLst/>
          </a:prstGeom>
          <a:noFill/>
        </p:spPr>
        <p:txBody>
          <a:bodyPr wrap="square">
            <a:spAutoFit/>
          </a:bodyPr>
          <a:lstStyle/>
          <a:p>
            <a:pPr algn="l"/>
            <a:r>
              <a:rPr sz="1100" b="0" i="0">
                <a:solidFill>
                  <a:srgbClr val="7878A0"/>
                </a:solidFill>
              </a:rPr>
              <a:t>Build React Native or Flutter app for better hardware access: GPU scheduling, background processing, accurate battery drain, and push notifications.</a:t>
            </a:r>
          </a:p>
        </p:txBody>
      </p:sp>
      <p:sp>
        <p:nvSpPr>
          <p:cNvPr id="36" name="Rectangle 35"/>
          <p:cNvSpPr/>
          <p:nvPr/>
        </p:nvSpPr>
        <p:spPr>
          <a:xfrm>
            <a:off x="365760" y="5989320"/>
            <a:ext cx="11430000" cy="749808"/>
          </a:xfrm>
          <a:prstGeom prst="rect">
            <a:avLst/>
          </a:prstGeom>
          <a:solidFill>
            <a:srgbClr val="20202E"/>
          </a:solidFill>
          <a:ln w="15240">
            <a:solidFill>
              <a:srgbClr val="282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6053328"/>
            <a:ext cx="3657600" cy="320040"/>
          </a:xfrm>
          <a:prstGeom prst="rect">
            <a:avLst/>
          </a:prstGeom>
          <a:noFill/>
        </p:spPr>
        <p:txBody>
          <a:bodyPr wrap="square">
            <a:spAutoFit/>
          </a:bodyPr>
          <a:lstStyle/>
          <a:p>
            <a:pPr algn="l"/>
            <a:r>
              <a:rPr sz="1300" b="1" i="0">
                <a:solidFill>
                  <a:srgbClr val="00FF88"/>
                </a:solidFill>
              </a:rPr>
              <a:t>Edge Cloudlet Integration</a:t>
            </a:r>
          </a:p>
        </p:txBody>
      </p:sp>
      <p:sp>
        <p:nvSpPr>
          <p:cNvPr id="38" name="TextBox 37"/>
          <p:cNvSpPr txBox="1"/>
          <p:nvPr/>
        </p:nvSpPr>
        <p:spPr>
          <a:xfrm>
            <a:off x="4297680" y="6053328"/>
            <a:ext cx="7406640" cy="594360"/>
          </a:xfrm>
          <a:prstGeom prst="rect">
            <a:avLst/>
          </a:prstGeom>
          <a:noFill/>
        </p:spPr>
        <p:txBody>
          <a:bodyPr wrap="square">
            <a:spAutoFit/>
          </a:bodyPr>
          <a:lstStyle/>
          <a:p>
            <a:pPr algn="l"/>
            <a:r>
              <a:rPr sz="1100" b="0" i="0">
                <a:solidFill>
                  <a:srgbClr val="7878A0"/>
                </a:solidFill>
              </a:rPr>
              <a:t>Hybrid inference: offload heavy frames to nearby edge cloudlets when client devices are overloaded. Dynamic cloud-edge switching based on real-time health metrics.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7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0"/>
          </a:xfrm>
          <a:prstGeom prst="rect">
            <a:avLst/>
          </a:prstGeom>
          <a:solidFill>
            <a:srgbClr val="004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47120" cy="1280160"/>
          </a:xfrm>
          <a:prstGeom prst="rect">
            <a:avLst/>
          </a:prstGeom>
          <a:noFill/>
        </p:spPr>
        <p:txBody>
          <a:bodyPr wrap="square">
            <a:spAutoFit/>
          </a:bodyPr>
          <a:lstStyle/>
          <a:p>
            <a:pPr algn="ctr"/>
            <a:r>
              <a:rPr sz="7200" b="1" i="0">
                <a:solidFill>
                  <a:srgbClr val="E8E8F4"/>
                </a:solidFill>
              </a:rPr>
              <a:t>Thank You</a:t>
            </a:r>
          </a:p>
        </p:txBody>
      </p:sp>
      <p:sp>
        <p:nvSpPr>
          <p:cNvPr id="5" name="TextBox 4"/>
          <p:cNvSpPr txBox="1"/>
          <p:nvPr/>
        </p:nvSpPr>
        <p:spPr>
          <a:xfrm>
            <a:off x="457200" y="2423160"/>
            <a:ext cx="11247120" cy="640080"/>
          </a:xfrm>
          <a:prstGeom prst="rect">
            <a:avLst/>
          </a:prstGeom>
          <a:noFill/>
        </p:spPr>
        <p:txBody>
          <a:bodyPr wrap="square">
            <a:spAutoFit/>
          </a:bodyPr>
          <a:lstStyle/>
          <a:p>
            <a:pPr algn="ctr"/>
            <a:r>
              <a:rPr sz="2800" b="1" i="0">
                <a:solidFill>
                  <a:srgbClr val="00FF88"/>
                </a:solidFill>
              </a:rPr>
              <a:t>DetectNet Pro</a:t>
            </a:r>
          </a:p>
        </p:txBody>
      </p:sp>
      <p:sp>
        <p:nvSpPr>
          <p:cNvPr id="6" name="TextBox 5"/>
          <p:cNvSpPr txBox="1"/>
          <p:nvPr/>
        </p:nvSpPr>
        <p:spPr>
          <a:xfrm>
            <a:off x="457200" y="3108960"/>
            <a:ext cx="11247120" cy="457200"/>
          </a:xfrm>
          <a:prstGeom prst="rect">
            <a:avLst/>
          </a:prstGeom>
          <a:noFill/>
        </p:spPr>
        <p:txBody>
          <a:bodyPr wrap="square">
            <a:spAutoFit/>
          </a:bodyPr>
          <a:lstStyle/>
          <a:p>
            <a:pPr algn="ctr"/>
            <a:r>
              <a:rPr sz="1500" b="0" i="0">
                <a:solidFill>
                  <a:srgbClr val="7878A0"/>
                </a:solidFill>
              </a:rPr>
              <a:t>Distributed Real-Time Object Detection with Intelligent Task Scheduling</a:t>
            </a:r>
          </a:p>
        </p:txBody>
      </p:sp>
      <p:sp>
        <p:nvSpPr>
          <p:cNvPr id="7" name="Rectangle 6"/>
          <p:cNvSpPr/>
          <p:nvPr/>
        </p:nvSpPr>
        <p:spPr>
          <a:xfrm>
            <a:off x="4114800" y="3703320"/>
            <a:ext cx="3931920" cy="36576"/>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4023360"/>
            <a:ext cx="2103120" cy="1371600"/>
          </a:xfrm>
          <a:prstGeom prst="rect">
            <a:avLst/>
          </a:prstGeom>
          <a:solidFill>
            <a:srgbClr val="181826"/>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114800"/>
            <a:ext cx="2103120" cy="640080"/>
          </a:xfrm>
          <a:prstGeom prst="rect">
            <a:avLst/>
          </a:prstGeom>
          <a:noFill/>
        </p:spPr>
        <p:txBody>
          <a:bodyPr wrap="square">
            <a:spAutoFit/>
          </a:bodyPr>
          <a:lstStyle/>
          <a:p>
            <a:pPr algn="ctr"/>
            <a:r>
              <a:rPr sz="3600" b="1" i="0">
                <a:solidFill>
                  <a:srgbClr val="00FF88"/>
                </a:solidFill>
              </a:rPr>
              <a:t>52%</a:t>
            </a:r>
          </a:p>
        </p:txBody>
      </p:sp>
      <p:sp>
        <p:nvSpPr>
          <p:cNvPr id="10" name="TextBox 9"/>
          <p:cNvSpPr txBox="1"/>
          <p:nvPr/>
        </p:nvSpPr>
        <p:spPr>
          <a:xfrm>
            <a:off x="1371600" y="4754880"/>
            <a:ext cx="2103120" cy="548640"/>
          </a:xfrm>
          <a:prstGeom prst="rect">
            <a:avLst/>
          </a:prstGeom>
          <a:noFill/>
        </p:spPr>
        <p:txBody>
          <a:bodyPr wrap="square">
            <a:spAutoFit/>
          </a:bodyPr>
          <a:lstStyle/>
          <a:p>
            <a:pPr algn="ctr"/>
            <a:r>
              <a:rPr sz="1000" b="0" i="0">
                <a:solidFill>
                  <a:srgbClr val="7878A0"/>
                </a:solidFill>
              </a:rPr>
              <a:t>Energy Reduction
(MOMPSO vs Greedy)</a:t>
            </a:r>
          </a:p>
        </p:txBody>
      </p:sp>
      <p:sp>
        <p:nvSpPr>
          <p:cNvPr id="11" name="Rectangle 10"/>
          <p:cNvSpPr/>
          <p:nvPr/>
        </p:nvSpPr>
        <p:spPr>
          <a:xfrm>
            <a:off x="3749040" y="4023360"/>
            <a:ext cx="2103120" cy="1371600"/>
          </a:xfrm>
          <a:prstGeom prst="rect">
            <a:avLst/>
          </a:prstGeom>
          <a:solidFill>
            <a:srgbClr val="181826"/>
          </a:solidFill>
          <a:ln w="19050">
            <a:solidFill>
              <a:srgbClr val="4D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0" y="4114800"/>
            <a:ext cx="2103120" cy="640080"/>
          </a:xfrm>
          <a:prstGeom prst="rect">
            <a:avLst/>
          </a:prstGeom>
          <a:noFill/>
        </p:spPr>
        <p:txBody>
          <a:bodyPr wrap="square">
            <a:spAutoFit/>
          </a:bodyPr>
          <a:lstStyle/>
          <a:p>
            <a:pPr algn="ctr"/>
            <a:r>
              <a:rPr sz="3600" b="1" i="0">
                <a:solidFill>
                  <a:srgbClr val="4D8FFF"/>
                </a:solidFill>
              </a:rPr>
              <a:t>33%</a:t>
            </a:r>
          </a:p>
        </p:txBody>
      </p:sp>
      <p:sp>
        <p:nvSpPr>
          <p:cNvPr id="13" name="TextBox 12"/>
          <p:cNvSpPr txBox="1"/>
          <p:nvPr/>
        </p:nvSpPr>
        <p:spPr>
          <a:xfrm>
            <a:off x="3749040" y="4754880"/>
            <a:ext cx="2103120" cy="548640"/>
          </a:xfrm>
          <a:prstGeom prst="rect">
            <a:avLst/>
          </a:prstGeom>
          <a:noFill/>
        </p:spPr>
        <p:txBody>
          <a:bodyPr wrap="square">
            <a:spAutoFit/>
          </a:bodyPr>
          <a:lstStyle/>
          <a:p>
            <a:pPr algn="ctr"/>
            <a:r>
              <a:rPr sz="1000" b="0" i="0">
                <a:solidFill>
                  <a:srgbClr val="7878A0"/>
                </a:solidFill>
              </a:rPr>
              <a:t>Faster Completion
(MOMPSO-GA vs Greedy)</a:t>
            </a:r>
          </a:p>
        </p:txBody>
      </p:sp>
      <p:sp>
        <p:nvSpPr>
          <p:cNvPr id="14" name="Rectangle 13"/>
          <p:cNvSpPr/>
          <p:nvPr/>
        </p:nvSpPr>
        <p:spPr>
          <a:xfrm>
            <a:off x="6126480" y="4023360"/>
            <a:ext cx="2103120" cy="1371600"/>
          </a:xfrm>
          <a:prstGeom prst="rect">
            <a:avLst/>
          </a:prstGeom>
          <a:solidFill>
            <a:srgbClr val="181826"/>
          </a:solidFill>
          <a:ln w="19050">
            <a:solidFill>
              <a:srgbClr val="AA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4114800"/>
            <a:ext cx="2103120" cy="640080"/>
          </a:xfrm>
          <a:prstGeom prst="rect">
            <a:avLst/>
          </a:prstGeom>
          <a:noFill/>
        </p:spPr>
        <p:txBody>
          <a:bodyPr wrap="square">
            <a:spAutoFit/>
          </a:bodyPr>
          <a:lstStyle/>
          <a:p>
            <a:pPr algn="ctr"/>
            <a:r>
              <a:rPr sz="3600" b="1" i="0">
                <a:solidFill>
                  <a:srgbClr val="AA66FF"/>
                </a:solidFill>
              </a:rPr>
              <a:t>80</a:t>
            </a:r>
          </a:p>
        </p:txBody>
      </p:sp>
      <p:sp>
        <p:nvSpPr>
          <p:cNvPr id="16" name="TextBox 15"/>
          <p:cNvSpPr txBox="1"/>
          <p:nvPr/>
        </p:nvSpPr>
        <p:spPr>
          <a:xfrm>
            <a:off x="6126480" y="4754880"/>
            <a:ext cx="2103120" cy="548640"/>
          </a:xfrm>
          <a:prstGeom prst="rect">
            <a:avLst/>
          </a:prstGeom>
          <a:noFill/>
        </p:spPr>
        <p:txBody>
          <a:bodyPr wrap="square">
            <a:spAutoFit/>
          </a:bodyPr>
          <a:lstStyle/>
          <a:p>
            <a:pPr algn="ctr"/>
            <a:r>
              <a:rPr sz="1000" b="0" i="0">
                <a:solidFill>
                  <a:srgbClr val="7878A0"/>
                </a:solidFill>
              </a:rPr>
              <a:t>Object Classes
(COCO-SSD)</a:t>
            </a:r>
          </a:p>
        </p:txBody>
      </p:sp>
      <p:sp>
        <p:nvSpPr>
          <p:cNvPr id="17" name="Rectangle 16"/>
          <p:cNvSpPr/>
          <p:nvPr/>
        </p:nvSpPr>
        <p:spPr>
          <a:xfrm>
            <a:off x="8503920" y="4023360"/>
            <a:ext cx="2103120" cy="1371600"/>
          </a:xfrm>
          <a:prstGeom prst="rect">
            <a:avLst/>
          </a:prstGeom>
          <a:solidFill>
            <a:srgbClr val="181826"/>
          </a:solidFill>
          <a:ln w="19050">
            <a:solidFill>
              <a:srgbClr val="FF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4114800"/>
            <a:ext cx="2103120" cy="640080"/>
          </a:xfrm>
          <a:prstGeom prst="rect">
            <a:avLst/>
          </a:prstGeom>
          <a:noFill/>
        </p:spPr>
        <p:txBody>
          <a:bodyPr wrap="square">
            <a:spAutoFit/>
          </a:bodyPr>
          <a:lstStyle/>
          <a:p>
            <a:pPr algn="ctr"/>
            <a:r>
              <a:rPr sz="3600" b="1" i="0">
                <a:solidFill>
                  <a:srgbClr val="FFAA00"/>
                </a:solidFill>
              </a:rPr>
              <a:t>4</a:t>
            </a:r>
          </a:p>
        </p:txBody>
      </p:sp>
      <p:sp>
        <p:nvSpPr>
          <p:cNvPr id="19" name="TextBox 18"/>
          <p:cNvSpPr txBox="1"/>
          <p:nvPr/>
        </p:nvSpPr>
        <p:spPr>
          <a:xfrm>
            <a:off x="8503920" y="4754880"/>
            <a:ext cx="2103120" cy="548640"/>
          </a:xfrm>
          <a:prstGeom prst="rect">
            <a:avLst/>
          </a:prstGeom>
          <a:noFill/>
        </p:spPr>
        <p:txBody>
          <a:bodyPr wrap="square">
            <a:spAutoFit/>
          </a:bodyPr>
          <a:lstStyle/>
          <a:p>
            <a:pPr algn="ctr"/>
            <a:r>
              <a:rPr sz="1000" b="0" i="0">
                <a:solidFill>
                  <a:srgbClr val="7878A0"/>
                </a:solidFill>
              </a:rPr>
              <a:t>Schedulers
Simultaneous</a:t>
            </a:r>
          </a:p>
        </p:txBody>
      </p:sp>
      <p:sp>
        <p:nvSpPr>
          <p:cNvPr id="20" name="TextBox 19"/>
          <p:cNvSpPr txBox="1"/>
          <p:nvPr/>
        </p:nvSpPr>
        <p:spPr>
          <a:xfrm>
            <a:off x="457200" y="5760720"/>
            <a:ext cx="11247120" cy="320040"/>
          </a:xfrm>
          <a:prstGeom prst="rect">
            <a:avLst/>
          </a:prstGeom>
          <a:noFill/>
        </p:spPr>
        <p:txBody>
          <a:bodyPr wrap="square">
            <a:spAutoFit/>
          </a:bodyPr>
          <a:lstStyle/>
          <a:p>
            <a:pPr algn="ctr"/>
            <a:r>
              <a:rPr sz="1100" b="0" i="0">
                <a:solidFill>
                  <a:srgbClr val="3E3E58"/>
                </a:solidFill>
              </a:rPr>
              <a:t>TensorFlow.js  |  WebSocket  |  Vercel  |  Railway  |  COCO-SSD  |  Node.js</a:t>
            </a:r>
          </a:p>
        </p:txBody>
      </p:sp>
      <p:sp>
        <p:nvSpPr>
          <p:cNvPr id="21" name="Rectangle 20"/>
          <p:cNvSpPr/>
          <p:nvPr/>
        </p:nvSpPr>
        <p:spPr>
          <a:xfrm>
            <a:off x="0" y="6400800"/>
            <a:ext cx="12188952" cy="457200"/>
          </a:xfrm>
          <a:prstGeom prst="rect">
            <a:avLst/>
          </a:prstGeom>
          <a:solidFill>
            <a:srgbClr val="18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473952"/>
            <a:ext cx="5486400" cy="320040"/>
          </a:xfrm>
          <a:prstGeom prst="rect">
            <a:avLst/>
          </a:prstGeom>
          <a:noFill/>
        </p:spPr>
        <p:txBody>
          <a:bodyPr wrap="square">
            <a:spAutoFit/>
          </a:bodyPr>
          <a:lstStyle/>
          <a:p>
            <a:pPr algn="l"/>
            <a:r>
              <a:rPr sz="1100" b="0" i="0">
                <a:solidFill>
                  <a:srgbClr val="3E3E58"/>
                </a:solidFill>
              </a:rPr>
              <a:t>Questions Welcome</a:t>
            </a:r>
          </a:p>
        </p:txBody>
      </p:sp>
      <p:sp>
        <p:nvSpPr>
          <p:cNvPr id="23" name="TextBox 22"/>
          <p:cNvSpPr txBox="1"/>
          <p:nvPr/>
        </p:nvSpPr>
        <p:spPr>
          <a:xfrm>
            <a:off x="10972800" y="6473952"/>
            <a:ext cx="914400" cy="320040"/>
          </a:xfrm>
          <a:prstGeom prst="rect">
            <a:avLst/>
          </a:prstGeom>
          <a:noFill/>
        </p:spPr>
        <p:txBody>
          <a:bodyPr wrap="square">
            <a:spAutoFit/>
          </a:bodyPr>
          <a:lstStyle/>
          <a:p>
            <a:pPr algn="r"/>
            <a:r>
              <a:rPr sz="1100" b="0" i="0">
                <a:solidFill>
                  <a:srgbClr val="3E3E58"/>
                </a:solidFill>
              </a:rPr>
              <a:t>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